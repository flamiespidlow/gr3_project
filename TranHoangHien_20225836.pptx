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9"/>
  </p:notesMasterIdLst>
  <p:handoutMasterIdLst>
    <p:handoutMasterId r:id="rId30"/>
  </p:handoutMasterIdLst>
  <p:sldIdLst>
    <p:sldId id="321" r:id="rId2"/>
    <p:sldId id="322" r:id="rId3"/>
    <p:sldId id="323" r:id="rId4"/>
    <p:sldId id="324" r:id="rId5"/>
    <p:sldId id="325" r:id="rId6"/>
    <p:sldId id="326" r:id="rId7"/>
    <p:sldId id="327" r:id="rId8"/>
    <p:sldId id="328" r:id="rId9"/>
    <p:sldId id="329" r:id="rId10"/>
    <p:sldId id="330" r:id="rId11"/>
    <p:sldId id="331" r:id="rId12"/>
    <p:sldId id="332" r:id="rId13"/>
    <p:sldId id="333" r:id="rId14"/>
    <p:sldId id="334" r:id="rId15"/>
    <p:sldId id="335" r:id="rId16"/>
    <p:sldId id="336" r:id="rId17"/>
    <p:sldId id="337" r:id="rId18"/>
    <p:sldId id="338" r:id="rId19"/>
    <p:sldId id="339" r:id="rId20"/>
    <p:sldId id="340" r:id="rId21"/>
    <p:sldId id="341" r:id="rId22"/>
    <p:sldId id="342" r:id="rId23"/>
    <p:sldId id="343" r:id="rId24"/>
    <p:sldId id="344" r:id="rId25"/>
    <p:sldId id="345" r:id="rId26"/>
    <p:sldId id="346" r:id="rId27"/>
    <p:sldId id="347" r:id="rId2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014" autoAdjust="0"/>
    <p:restoredTop sz="94660"/>
  </p:normalViewPr>
  <p:slideViewPr>
    <p:cSldViewPr snapToGrid="0">
      <p:cViewPr varScale="1">
        <p:scale>
          <a:sx n="109" d="100"/>
          <a:sy n="109" d="100"/>
        </p:scale>
        <p:origin x="80" y="1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handoutMaster" Target="handoutMasters/handoutMaster1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A5EAC724-B034-4F10-A9E8-56851A79B80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20872BB-3892-4F66-9266-36ADB83FAD5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8B45424-6BAC-416C-8F6C-5F9DE854A36B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ACA138F-B9BA-4997-B3C2-DA8B17B6D5B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EE86FBF-0AC4-4904-8ED7-0BD6E9AC71D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E34D737-83BD-4FDE-8CF3-8BC01E7FC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907374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B733702-C25A-40B9-9167-54BAA79B29B0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B2FC7A4-3D1B-482D-8C9D-7642A2CE30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192653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26152509-8D0C-4712-AA81-AF54972C78D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86006"/>
            <a:ext cx="27432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58E92B09-5AF4-4E86-A8BE-E866F0E2C017}" type="datetime1">
              <a:rPr lang="en-US" smtClean="0"/>
              <a:t>7/13/2026</a:t>
            </a:fld>
            <a:endParaRPr lang="en-US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A9A90DE7-FAAB-4B91-AC83-B18850F1EC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6006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0FD5971E-BD21-416C-BC2E-97EE0E09A5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95750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30FC03-A82E-4B34-AE4B-8AC40A0CD5B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86006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7/13/2026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49FB7E-C73B-452D-861A-6C73FF59EC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6006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5733BD-32DD-483E-A597-B70529CBDA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itle 8">
            <a:extLst>
              <a:ext uri="{FF2B5EF4-FFF2-40B4-BE49-F238E27FC236}">
                <a16:creationId xmlns:a16="http://schemas.microsoft.com/office/drawing/2014/main" id="{DEAFB3E9-4F5E-435C-B51A-CC5766A852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8736" y="112543"/>
            <a:ext cx="11514528" cy="436098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1:……………………………………..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9C57778-6639-411E-9B4C-12D035AECE2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38736" y="1058844"/>
            <a:ext cx="11514528" cy="4909124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613295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84B5929F-A28F-4256-A6B2-5D095331D01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86006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B3ACFEBC-8634-4116-B617-2BE5C2034C2C}" type="datetime1">
              <a:rPr lang="en-US" smtClean="0"/>
              <a:pPr/>
              <a:t>7/13/2026</a:t>
            </a:fld>
            <a:endParaRPr lang="en-US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7C2F339A-915E-4496-B889-28FBBAAD31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6006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028A2E5F-7F4D-4F39-A494-67088E8046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Title 8">
            <a:extLst>
              <a:ext uri="{FF2B5EF4-FFF2-40B4-BE49-F238E27FC236}">
                <a16:creationId xmlns:a16="http://schemas.microsoft.com/office/drawing/2014/main" id="{FC0C4515-8106-49DA-9C06-E98AF815242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8736" y="112543"/>
            <a:ext cx="11514528" cy="436098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2:……………………………………..</a:t>
            </a:r>
          </a:p>
        </p:txBody>
      </p:sp>
      <p:sp>
        <p:nvSpPr>
          <p:cNvPr id="12" name="Chart Placeholder 9">
            <a:extLst>
              <a:ext uri="{FF2B5EF4-FFF2-40B4-BE49-F238E27FC236}">
                <a16:creationId xmlns:a16="http://schemas.microsoft.com/office/drawing/2014/main" id="{F49327FB-190B-40C4-9FC9-66F9F7D12317}"/>
              </a:ext>
            </a:extLst>
          </p:cNvPr>
          <p:cNvSpPr>
            <a:spLocks noGrp="1"/>
          </p:cNvSpPr>
          <p:nvPr>
            <p:ph type="chart" sz="quarter" idx="13" hasCustomPrompt="1"/>
          </p:nvPr>
        </p:nvSpPr>
        <p:spPr>
          <a:xfrm>
            <a:off x="330201" y="1406769"/>
            <a:ext cx="5765800" cy="4655894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Chart</a:t>
            </a:r>
          </a:p>
        </p:txBody>
      </p:sp>
      <p:sp>
        <p:nvSpPr>
          <p:cNvPr id="13" name="Picture Placeholder 11">
            <a:extLst>
              <a:ext uri="{FF2B5EF4-FFF2-40B4-BE49-F238E27FC236}">
                <a16:creationId xmlns:a16="http://schemas.microsoft.com/office/drawing/2014/main" id="{733EBCBB-E1FE-415C-8ED9-6D1F3674847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238875" y="1414463"/>
            <a:ext cx="5445125" cy="4656137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Picture</a:t>
            </a:r>
          </a:p>
        </p:txBody>
      </p:sp>
    </p:spTree>
    <p:extLst>
      <p:ext uri="{BB962C8B-B14F-4D97-AF65-F5344CB8AC3E}">
        <p14:creationId xmlns:p14="http://schemas.microsoft.com/office/powerpoint/2010/main" val="38876699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8">
            <a:extLst>
              <a:ext uri="{FF2B5EF4-FFF2-40B4-BE49-F238E27FC236}">
                <a16:creationId xmlns:a16="http://schemas.microsoft.com/office/drawing/2014/main" id="{3E6AE9CF-41FF-46D0-BF7A-815E4777895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8736" y="112543"/>
            <a:ext cx="11514528" cy="436098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3:……………………………………..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A85E41C6-3987-4F5C-A750-35F5C730A56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7539" y="1032510"/>
            <a:ext cx="11515725" cy="4938713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Date Placeholder 3">
            <a:extLst>
              <a:ext uri="{FF2B5EF4-FFF2-40B4-BE49-F238E27FC236}">
                <a16:creationId xmlns:a16="http://schemas.microsoft.com/office/drawing/2014/main" id="{C99BA7CA-DC84-4A35-BD8A-C14D582181A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86006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8CDB0C24-DFE0-41C5-B02D-FC32F5C22F7C}" type="datetime1">
              <a:rPr lang="en-US" smtClean="0"/>
              <a:t>7/13/2026</a:t>
            </a:fld>
            <a:endParaRPr lang="en-US"/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E1DCC345-F4E6-42D6-9173-88011D0E27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6006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BD82AFB1-CD7C-4710-A82A-F9FEE6DA5C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81265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98A78F82-82C6-4F07-B7D8-4A1219A1BB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86006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19A9EFEF-A194-4819-82D7-1112425D0E86}" type="datetime1">
              <a:rPr lang="en-US" smtClean="0"/>
              <a:pPr/>
              <a:t>7/13/2026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12041C72-5CA2-4523-9F1E-50662A3276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6006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3AD6B24F-6759-4931-A1C4-77BA8AF7E0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Title 8">
            <a:extLst>
              <a:ext uri="{FF2B5EF4-FFF2-40B4-BE49-F238E27FC236}">
                <a16:creationId xmlns:a16="http://schemas.microsoft.com/office/drawing/2014/main" id="{1CD850F7-B0EC-49AD-960D-051EAF5F36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8736" y="112543"/>
            <a:ext cx="11514528" cy="436098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4:……………………………………..</a:t>
            </a:r>
          </a:p>
        </p:txBody>
      </p:sp>
      <p:sp>
        <p:nvSpPr>
          <p:cNvPr id="11" name="Chart Placeholder 14">
            <a:extLst>
              <a:ext uri="{FF2B5EF4-FFF2-40B4-BE49-F238E27FC236}">
                <a16:creationId xmlns:a16="http://schemas.microsoft.com/office/drawing/2014/main" id="{4A80550F-98CB-400B-9D36-210A7AED20E8}"/>
              </a:ext>
            </a:extLst>
          </p:cNvPr>
          <p:cNvSpPr>
            <a:spLocks noGrp="1"/>
          </p:cNvSpPr>
          <p:nvPr>
            <p:ph type="chart" sz="quarter" idx="13" hasCustomPrompt="1"/>
          </p:nvPr>
        </p:nvSpPr>
        <p:spPr>
          <a:xfrm>
            <a:off x="338736" y="1406525"/>
            <a:ext cx="5757264" cy="4670425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Chart</a:t>
            </a:r>
          </a:p>
        </p:txBody>
      </p:sp>
      <p:sp>
        <p:nvSpPr>
          <p:cNvPr id="12" name="Table Placeholder 16">
            <a:extLst>
              <a:ext uri="{FF2B5EF4-FFF2-40B4-BE49-F238E27FC236}">
                <a16:creationId xmlns:a16="http://schemas.microsoft.com/office/drawing/2014/main" id="{15345DA2-1E92-473D-9483-A24F87614F3D}"/>
              </a:ext>
            </a:extLst>
          </p:cNvPr>
          <p:cNvSpPr>
            <a:spLocks noGrp="1"/>
          </p:cNvSpPr>
          <p:nvPr>
            <p:ph type="tbl" sz="quarter" idx="14" hasCustomPrompt="1"/>
          </p:nvPr>
        </p:nvSpPr>
        <p:spPr>
          <a:xfrm>
            <a:off x="6210300" y="1392239"/>
            <a:ext cx="5592763" cy="4684712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Table</a:t>
            </a:r>
          </a:p>
        </p:txBody>
      </p:sp>
    </p:spTree>
    <p:extLst>
      <p:ext uri="{BB962C8B-B14F-4D97-AF65-F5344CB8AC3E}">
        <p14:creationId xmlns:p14="http://schemas.microsoft.com/office/powerpoint/2010/main" val="324268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4F1F29B1-F2F8-4527-A0B9-5A566F0DB56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86006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EEBFCEF3-2DDE-476B-8A96-303EC557333C}" type="datetime1">
              <a:rPr lang="en-US" smtClean="0"/>
              <a:pPr/>
              <a:t>7/13/2026</a:t>
            </a:fld>
            <a:endParaRPr lang="en-US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B1F89192-9608-4DA0-9D58-CE5D74F016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6006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41300396-45C9-472A-AA37-70408F1C2F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Content Placeholder 4">
            <a:extLst>
              <a:ext uri="{FF2B5EF4-FFF2-40B4-BE49-F238E27FC236}">
                <a16:creationId xmlns:a16="http://schemas.microsoft.com/office/drawing/2014/main" id="{45B855E6-8413-49D5-929E-33A3B362751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558372" y="1248325"/>
            <a:ext cx="7391400" cy="5205412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itle 8">
            <a:extLst>
              <a:ext uri="{FF2B5EF4-FFF2-40B4-BE49-F238E27FC236}">
                <a16:creationId xmlns:a16="http://schemas.microsoft.com/office/drawing/2014/main" id="{AB6BBE52-BFE6-4B4F-95C1-25C2EB84A6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58372" y="404265"/>
            <a:ext cx="7391400" cy="436098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5:……………………………………..</a:t>
            </a:r>
          </a:p>
        </p:txBody>
      </p:sp>
    </p:spTree>
    <p:extLst>
      <p:ext uri="{BB962C8B-B14F-4D97-AF65-F5344CB8AC3E}">
        <p14:creationId xmlns:p14="http://schemas.microsoft.com/office/powerpoint/2010/main" val="41134391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mparis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8">
            <a:extLst>
              <a:ext uri="{FF2B5EF4-FFF2-40B4-BE49-F238E27FC236}">
                <a16:creationId xmlns:a16="http://schemas.microsoft.com/office/drawing/2014/main" id="{3E6AE9CF-41FF-46D0-BF7A-815E4777895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8736" y="112543"/>
            <a:ext cx="11514528" cy="436098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6:……………………………………..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A85E41C6-3987-4F5C-A750-35F5C730A56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7539" y="1032510"/>
            <a:ext cx="11515725" cy="4938713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Date Placeholder 3">
            <a:extLst>
              <a:ext uri="{FF2B5EF4-FFF2-40B4-BE49-F238E27FC236}">
                <a16:creationId xmlns:a16="http://schemas.microsoft.com/office/drawing/2014/main" id="{C99BA7CA-DC84-4A35-BD8A-C14D582181A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86006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8CDB0C24-DFE0-41C5-B02D-FC32F5C22F7C}" type="datetime1">
              <a:rPr lang="en-US" smtClean="0"/>
              <a:t>7/13/2026</a:t>
            </a:fld>
            <a:endParaRPr lang="en-US"/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E1DCC345-F4E6-42D6-9173-88011D0E27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6006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BD82AFB1-CD7C-4710-A82A-F9FEE6DA5C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13358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84B5929F-A28F-4256-A6B2-5D095331D01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86006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B3ACFEBC-8634-4116-B617-2BE5C2034C2C}" type="datetime1">
              <a:rPr lang="en-US" smtClean="0"/>
              <a:pPr/>
              <a:t>7/13/2026</a:t>
            </a:fld>
            <a:endParaRPr lang="en-US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7C2F339A-915E-4496-B889-28FBBAAD31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6006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028A2E5F-7F4D-4F39-A494-67088E8046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Title 8">
            <a:extLst>
              <a:ext uri="{FF2B5EF4-FFF2-40B4-BE49-F238E27FC236}">
                <a16:creationId xmlns:a16="http://schemas.microsoft.com/office/drawing/2014/main" id="{FC0C4515-8106-49DA-9C06-E98AF815242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8736" y="112543"/>
            <a:ext cx="11514528" cy="436098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7:……………………………………..</a:t>
            </a:r>
          </a:p>
        </p:txBody>
      </p:sp>
      <p:sp>
        <p:nvSpPr>
          <p:cNvPr id="12" name="Chart Placeholder 9">
            <a:extLst>
              <a:ext uri="{FF2B5EF4-FFF2-40B4-BE49-F238E27FC236}">
                <a16:creationId xmlns:a16="http://schemas.microsoft.com/office/drawing/2014/main" id="{F49327FB-190B-40C4-9FC9-66F9F7D12317}"/>
              </a:ext>
            </a:extLst>
          </p:cNvPr>
          <p:cNvSpPr>
            <a:spLocks noGrp="1"/>
          </p:cNvSpPr>
          <p:nvPr>
            <p:ph type="chart" sz="quarter" idx="13" hasCustomPrompt="1"/>
          </p:nvPr>
        </p:nvSpPr>
        <p:spPr>
          <a:xfrm>
            <a:off x="330201" y="1406769"/>
            <a:ext cx="5765800" cy="4655894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Chart</a:t>
            </a:r>
          </a:p>
        </p:txBody>
      </p:sp>
      <p:sp>
        <p:nvSpPr>
          <p:cNvPr id="13" name="Picture Placeholder 11">
            <a:extLst>
              <a:ext uri="{FF2B5EF4-FFF2-40B4-BE49-F238E27FC236}">
                <a16:creationId xmlns:a16="http://schemas.microsoft.com/office/drawing/2014/main" id="{733EBCBB-E1FE-415C-8ED9-6D1F3674847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238875" y="1414463"/>
            <a:ext cx="5445125" cy="4656137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Picture</a:t>
            </a:r>
          </a:p>
        </p:txBody>
      </p:sp>
    </p:spTree>
    <p:extLst>
      <p:ext uri="{BB962C8B-B14F-4D97-AF65-F5344CB8AC3E}">
        <p14:creationId xmlns:p14="http://schemas.microsoft.com/office/powerpoint/2010/main" val="9605850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is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8">
            <a:extLst>
              <a:ext uri="{FF2B5EF4-FFF2-40B4-BE49-F238E27FC236}">
                <a16:creationId xmlns:a16="http://schemas.microsoft.com/office/drawing/2014/main" id="{3E6AE9CF-41FF-46D0-BF7A-815E4777895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8736" y="112543"/>
            <a:ext cx="11514528" cy="436098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8:……………………………………..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A85E41C6-3987-4F5C-A750-35F5C730A56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7539" y="1032510"/>
            <a:ext cx="11515725" cy="4938713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Date Placeholder 3">
            <a:extLst>
              <a:ext uri="{FF2B5EF4-FFF2-40B4-BE49-F238E27FC236}">
                <a16:creationId xmlns:a16="http://schemas.microsoft.com/office/drawing/2014/main" id="{C99BA7CA-DC84-4A35-BD8A-C14D582181A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86006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8CDB0C24-DFE0-41C5-B02D-FC32F5C22F7C}" type="datetime1">
              <a:rPr lang="en-US" smtClean="0"/>
              <a:t>7/13/2026</a:t>
            </a:fld>
            <a:endParaRPr lang="en-US"/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E1DCC345-F4E6-42D6-9173-88011D0E27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6006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BD82AFB1-CD7C-4710-A82A-F9FEE6DA5C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00320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wo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84B5929F-A28F-4256-A6B2-5D095331D01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86006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B3ACFEBC-8634-4116-B617-2BE5C2034C2C}" type="datetime1">
              <a:rPr lang="en-US" smtClean="0"/>
              <a:pPr/>
              <a:t>7/13/2026</a:t>
            </a:fld>
            <a:endParaRPr lang="en-US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7C2F339A-915E-4496-B889-28FBBAAD31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6006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028A2E5F-7F4D-4F39-A494-67088E8046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Title 8">
            <a:extLst>
              <a:ext uri="{FF2B5EF4-FFF2-40B4-BE49-F238E27FC236}">
                <a16:creationId xmlns:a16="http://schemas.microsoft.com/office/drawing/2014/main" id="{FC0C4515-8106-49DA-9C06-E98AF815242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8736" y="112543"/>
            <a:ext cx="11514528" cy="436098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9:……………………………………..</a:t>
            </a:r>
          </a:p>
        </p:txBody>
      </p:sp>
      <p:sp>
        <p:nvSpPr>
          <p:cNvPr id="12" name="Chart Placeholder 9">
            <a:extLst>
              <a:ext uri="{FF2B5EF4-FFF2-40B4-BE49-F238E27FC236}">
                <a16:creationId xmlns:a16="http://schemas.microsoft.com/office/drawing/2014/main" id="{F49327FB-190B-40C4-9FC9-66F9F7D12317}"/>
              </a:ext>
            </a:extLst>
          </p:cNvPr>
          <p:cNvSpPr>
            <a:spLocks noGrp="1"/>
          </p:cNvSpPr>
          <p:nvPr>
            <p:ph type="chart" sz="quarter" idx="13" hasCustomPrompt="1"/>
          </p:nvPr>
        </p:nvSpPr>
        <p:spPr>
          <a:xfrm>
            <a:off x="330201" y="1406769"/>
            <a:ext cx="5765800" cy="4655894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Chart</a:t>
            </a:r>
          </a:p>
        </p:txBody>
      </p:sp>
      <p:sp>
        <p:nvSpPr>
          <p:cNvPr id="13" name="Picture Placeholder 11">
            <a:extLst>
              <a:ext uri="{FF2B5EF4-FFF2-40B4-BE49-F238E27FC236}">
                <a16:creationId xmlns:a16="http://schemas.microsoft.com/office/drawing/2014/main" id="{733EBCBB-E1FE-415C-8ED9-6D1F3674847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238875" y="1414463"/>
            <a:ext cx="5445125" cy="4656137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Picture</a:t>
            </a:r>
          </a:p>
        </p:txBody>
      </p:sp>
    </p:spTree>
    <p:extLst>
      <p:ext uri="{BB962C8B-B14F-4D97-AF65-F5344CB8AC3E}">
        <p14:creationId xmlns:p14="http://schemas.microsoft.com/office/powerpoint/2010/main" val="12262005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A21A061D-9F38-49ED-BAF8-8055D9FB97A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82F65D4C-DEE4-4C7B-91C4-D6D57A523E98}" type="datetime1">
              <a:rPr lang="en-US" smtClean="0"/>
              <a:pPr/>
              <a:t>7/13/2026</a:t>
            </a:fld>
            <a:endParaRPr lang="en-US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490FAA6E-46AD-4366-8E80-2F5BEB7D5B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9A5604C7-0828-446E-97CC-8D6162E69E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488166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5603337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4">
            <a:extLst>
              <a:ext uri="{FF2B5EF4-FFF2-40B4-BE49-F238E27FC236}">
                <a16:creationId xmlns:a16="http://schemas.microsoft.com/office/drawing/2014/main" id="{4C167836-5AFF-4757-AB55-39FD3BBF9D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88898" y="2461846"/>
            <a:ext cx="4614203" cy="1934307"/>
          </a:xfrm>
          <a:prstGeom prst="rect">
            <a:avLst/>
          </a:prstGeom>
        </p:spPr>
        <p:txBody>
          <a:bodyPr/>
          <a:lstStyle>
            <a:lvl1pPr algn="ctr">
              <a:defRPr sz="4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9815202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5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095433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5" r:id="rId5"/>
    <p:sldLayoutId id="2147483654" r:id="rId6"/>
    <p:sldLayoutId id="2147483660" r:id="rId7"/>
    <p:sldLayoutId id="2147483659" r:id="rId8"/>
    <p:sldLayoutId id="2147483658" r:id="rId9"/>
    <p:sldLayoutId id="2147483661" r:id="rId10"/>
    <p:sldLayoutId id="2147483656" r:id="rId11"/>
    <p:sldLayoutId id="2147483657" r:id="rId12"/>
    <p:sldLayoutId id="2147483649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Relationship Id="rId9" Type="http://schemas.openxmlformats.org/officeDocument/2006/relationships/image" Target="../media/image24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8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457200"/>
            <a:ext cx="2743200" cy="82353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5800" y="2514600"/>
            <a:ext cx="7498079" cy="18433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2000"/>
              </a:lnSpc>
            </a:pPr>
            <a:r>
              <a:rPr lang="en-US" sz="4000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Thiết</a:t>
            </a:r>
            <a:r>
              <a:rPr lang="en-US" sz="4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4000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kế</a:t>
            </a:r>
            <a:r>
              <a:rPr lang="en-US" sz="4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4000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và</a:t>
            </a:r>
            <a:r>
              <a:rPr lang="en-US" sz="4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4000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xây</a:t>
            </a:r>
            <a:r>
              <a:rPr lang="en-US" sz="4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4000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dựng</a:t>
            </a:r>
            <a:r>
              <a:rPr lang="en-US" sz="4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4000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ứng</a:t>
            </a:r>
            <a:r>
              <a:rPr lang="en-US" sz="4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4000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dụng</a:t>
            </a:r>
            <a:r>
              <a:rPr lang="en-US" sz="4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web </a:t>
            </a:r>
            <a:r>
              <a:rPr lang="en-US" sz="4000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gợi</a:t>
            </a:r>
            <a:r>
              <a:rPr lang="en-US" sz="4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ý </a:t>
            </a:r>
            <a:r>
              <a:rPr lang="en-US" sz="4000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địa</a:t>
            </a:r>
            <a:r>
              <a:rPr lang="en-US" sz="4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4000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điểm</a:t>
            </a:r>
            <a:r>
              <a:rPr lang="en-US" sz="4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4000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vui</a:t>
            </a:r>
            <a:r>
              <a:rPr lang="en-US" sz="4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4000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chơi</a:t>
            </a:r>
            <a:r>
              <a:rPr lang="en-US" sz="4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4000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cuối</a:t>
            </a:r>
            <a:r>
              <a:rPr lang="en-US" sz="4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4000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tuần</a:t>
            </a:r>
            <a:r>
              <a:rPr lang="en-US" sz="4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4000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cho</a:t>
            </a:r>
            <a:r>
              <a:rPr lang="en-US" sz="4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4000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trẻ</a:t>
            </a:r>
            <a:r>
              <a:rPr lang="en-US" sz="4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4000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em</a:t>
            </a:r>
            <a:endParaRPr sz="4000" b="1" i="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85800" y="4892040"/>
            <a:ext cx="713232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600"/>
              </a:spcAft>
            </a:pPr>
            <a:r>
              <a:rPr sz="1600" b="1" i="0" dirty="0">
                <a:solidFill>
                  <a:srgbClr val="555555"/>
                </a:solidFill>
                <a:latin typeface="Arial"/>
              </a:rPr>
              <a:t>Sinh </a:t>
            </a:r>
            <a:r>
              <a:rPr sz="1600" b="1" i="0" dirty="0" err="1">
                <a:solidFill>
                  <a:srgbClr val="555555"/>
                </a:solidFill>
                <a:latin typeface="Arial"/>
              </a:rPr>
              <a:t>viên</a:t>
            </a:r>
            <a:r>
              <a:rPr sz="1600" b="1" i="0" dirty="0">
                <a:solidFill>
                  <a:srgbClr val="555555"/>
                </a:solidFill>
                <a:latin typeface="Arial"/>
              </a:rPr>
              <a:t> </a:t>
            </a:r>
            <a:r>
              <a:rPr sz="1600" b="1" i="0" dirty="0" err="1">
                <a:solidFill>
                  <a:srgbClr val="555555"/>
                </a:solidFill>
                <a:latin typeface="Arial"/>
              </a:rPr>
              <a:t>thực</a:t>
            </a:r>
            <a:r>
              <a:rPr sz="1600" b="1" i="0" dirty="0">
                <a:solidFill>
                  <a:srgbClr val="555555"/>
                </a:solidFill>
                <a:latin typeface="Arial"/>
              </a:rPr>
              <a:t> </a:t>
            </a:r>
            <a:r>
              <a:rPr sz="1600" b="1" i="0" dirty="0" err="1">
                <a:solidFill>
                  <a:srgbClr val="555555"/>
                </a:solidFill>
                <a:latin typeface="Arial"/>
              </a:rPr>
              <a:t>hiện</a:t>
            </a:r>
            <a:r>
              <a:rPr sz="1600" b="1" i="0" dirty="0">
                <a:solidFill>
                  <a:srgbClr val="555555"/>
                </a:solidFill>
                <a:latin typeface="Arial"/>
              </a:rPr>
              <a:t>: </a:t>
            </a:r>
            <a:r>
              <a:rPr sz="1600" b="0" i="0" dirty="0">
                <a:solidFill>
                  <a:srgbClr val="262626"/>
                </a:solidFill>
                <a:latin typeface="Arial"/>
              </a:rPr>
              <a:t>Trần Hoàng Hiền  –  MSSV: 20225836</a:t>
            </a:r>
          </a:p>
          <a:p>
            <a:pPr>
              <a:spcAft>
                <a:spcPts val="600"/>
              </a:spcAft>
            </a:pPr>
            <a:r>
              <a:rPr sz="1600" b="1" i="0" dirty="0" err="1">
                <a:solidFill>
                  <a:srgbClr val="555555"/>
                </a:solidFill>
                <a:latin typeface="Arial"/>
              </a:rPr>
              <a:t>Chương</a:t>
            </a:r>
            <a:r>
              <a:rPr sz="1600" b="1" i="0" dirty="0">
                <a:solidFill>
                  <a:srgbClr val="555555"/>
                </a:solidFill>
                <a:latin typeface="Arial"/>
              </a:rPr>
              <a:t> </a:t>
            </a:r>
            <a:r>
              <a:rPr sz="1600" b="1" i="0" dirty="0" err="1">
                <a:solidFill>
                  <a:srgbClr val="555555"/>
                </a:solidFill>
                <a:latin typeface="Arial"/>
              </a:rPr>
              <a:t>trình</a:t>
            </a:r>
            <a:r>
              <a:rPr sz="1600" b="1" i="0" dirty="0">
                <a:solidFill>
                  <a:srgbClr val="555555"/>
                </a:solidFill>
                <a:latin typeface="Arial"/>
              </a:rPr>
              <a:t>: </a:t>
            </a:r>
            <a:r>
              <a:rPr sz="1600" b="0" i="0" dirty="0">
                <a:solidFill>
                  <a:srgbClr val="262626"/>
                </a:solidFill>
                <a:latin typeface="Arial"/>
              </a:rPr>
              <a:t>Công </a:t>
            </a:r>
            <a:r>
              <a:rPr sz="1600" b="0" i="0" dirty="0" err="1">
                <a:solidFill>
                  <a:srgbClr val="262626"/>
                </a:solidFill>
                <a:latin typeface="Arial"/>
              </a:rPr>
              <a:t>nghệ</a:t>
            </a:r>
            <a:r>
              <a:rPr sz="160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600" b="0" i="0" dirty="0" err="1">
                <a:solidFill>
                  <a:srgbClr val="262626"/>
                </a:solidFill>
                <a:latin typeface="Arial"/>
              </a:rPr>
              <a:t>thông</a:t>
            </a:r>
            <a:r>
              <a:rPr sz="1600" b="0" i="0" dirty="0">
                <a:solidFill>
                  <a:srgbClr val="262626"/>
                </a:solidFill>
                <a:latin typeface="Arial"/>
              </a:rPr>
              <a:t> tin Việt – Nhật</a:t>
            </a:r>
          </a:p>
          <a:p>
            <a:pPr>
              <a:spcAft>
                <a:spcPts val="600"/>
              </a:spcAft>
            </a:pPr>
            <a:r>
              <a:rPr sz="1600" b="1" i="0" dirty="0" err="1">
                <a:solidFill>
                  <a:srgbClr val="555555"/>
                </a:solidFill>
                <a:latin typeface="Arial"/>
              </a:rPr>
              <a:t>Giảng</a:t>
            </a:r>
            <a:r>
              <a:rPr sz="1600" b="1" i="0" dirty="0">
                <a:solidFill>
                  <a:srgbClr val="555555"/>
                </a:solidFill>
                <a:latin typeface="Arial"/>
              </a:rPr>
              <a:t> </a:t>
            </a:r>
            <a:r>
              <a:rPr sz="1600" b="1" i="0" dirty="0" err="1">
                <a:solidFill>
                  <a:srgbClr val="555555"/>
                </a:solidFill>
                <a:latin typeface="Arial"/>
              </a:rPr>
              <a:t>viên</a:t>
            </a:r>
            <a:r>
              <a:rPr sz="1600" b="1" i="0" dirty="0">
                <a:solidFill>
                  <a:srgbClr val="555555"/>
                </a:solidFill>
                <a:latin typeface="Arial"/>
              </a:rPr>
              <a:t> </a:t>
            </a:r>
            <a:r>
              <a:rPr sz="1600" b="1" i="0" dirty="0" err="1">
                <a:solidFill>
                  <a:srgbClr val="555555"/>
                </a:solidFill>
                <a:latin typeface="Arial"/>
              </a:rPr>
              <a:t>hướng</a:t>
            </a:r>
            <a:r>
              <a:rPr sz="1600" b="1" i="0" dirty="0">
                <a:solidFill>
                  <a:srgbClr val="555555"/>
                </a:solidFill>
                <a:latin typeface="Arial"/>
              </a:rPr>
              <a:t> </a:t>
            </a:r>
            <a:r>
              <a:rPr sz="1600" b="1" i="0" dirty="0" err="1">
                <a:solidFill>
                  <a:srgbClr val="555555"/>
                </a:solidFill>
                <a:latin typeface="Arial"/>
              </a:rPr>
              <a:t>dẫn</a:t>
            </a:r>
            <a:r>
              <a:rPr sz="1600" b="1" i="0" dirty="0">
                <a:solidFill>
                  <a:srgbClr val="555555"/>
                </a:solidFill>
                <a:latin typeface="Arial"/>
              </a:rPr>
              <a:t>: </a:t>
            </a:r>
            <a:r>
              <a:rPr sz="1600" b="0" i="0" dirty="0">
                <a:solidFill>
                  <a:srgbClr val="262626"/>
                </a:solidFill>
                <a:latin typeface="Arial"/>
              </a:rPr>
              <a:t>TS. Trần Hải Anh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201400" y="6309360"/>
            <a:ext cx="6858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 b="1">
                <a:solidFill>
                  <a:srgbClr val="C4122F"/>
                </a:solidFill>
                <a:latin typeface="Arial"/>
              </a:rPr>
              <a:t>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0584"/>
            <a:ext cx="86868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600" b="1" i="0">
                <a:solidFill>
                  <a:srgbClr val="FFFFFF"/>
                </a:solidFill>
                <a:latin typeface="Arial"/>
              </a:rPr>
              <a:t>Nội dung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70432"/>
            <a:ext cx="110642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3000" b="1" i="0">
                <a:solidFill>
                  <a:srgbClr val="C4122F"/>
                </a:solidFill>
                <a:latin typeface="Arial"/>
              </a:rPr>
              <a:t>Nội dung trình bày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329184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5000" b="1" i="0">
                <a:solidFill>
                  <a:srgbClr val="C4122F"/>
                </a:solidFill>
                <a:latin typeface="Arial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3154680"/>
            <a:ext cx="329184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900" b="1" i="0">
                <a:solidFill>
                  <a:srgbClr val="262626"/>
                </a:solidFill>
                <a:latin typeface="Arial"/>
              </a:rPr>
              <a:t>Giới thiệu đề tài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2286000"/>
            <a:ext cx="329184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5000" b="1" i="0">
                <a:solidFill>
                  <a:srgbClr val="C4122F"/>
                </a:solidFill>
                <a:latin typeface="Arial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3154680"/>
            <a:ext cx="329184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900" b="1" i="0">
                <a:solidFill>
                  <a:srgbClr val="262626"/>
                </a:solidFill>
                <a:latin typeface="Arial"/>
              </a:rPr>
              <a:t>Phân tích &amp; thiết kế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66760" y="2286000"/>
            <a:ext cx="329184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5000" b="1" i="0">
                <a:solidFill>
                  <a:srgbClr val="C4122F"/>
                </a:solidFill>
                <a:latin typeface="Arial"/>
              </a:rPr>
              <a:t>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66760" y="3154680"/>
            <a:ext cx="329184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900" b="1" i="0">
                <a:solidFill>
                  <a:srgbClr val="262626"/>
                </a:solidFill>
                <a:latin typeface="Arial"/>
              </a:rPr>
              <a:t>Các chức năng chính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389120"/>
            <a:ext cx="329184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5000" b="1" i="0">
                <a:solidFill>
                  <a:srgbClr val="C4122F"/>
                </a:solidFill>
                <a:latin typeface="Arial"/>
              </a:rPr>
              <a:t>04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5257800"/>
            <a:ext cx="329184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900" b="1" i="0">
                <a:solidFill>
                  <a:srgbClr val="262626"/>
                </a:solidFill>
                <a:latin typeface="Arial"/>
              </a:rPr>
              <a:t>Kết quả &amp; kiểm thử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4389120"/>
            <a:ext cx="329184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5000" b="1" i="0">
                <a:solidFill>
                  <a:srgbClr val="C4122F"/>
                </a:solidFill>
                <a:latin typeface="Arial"/>
              </a:rPr>
              <a:t>05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5257800"/>
            <a:ext cx="329184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900" b="1" i="0">
                <a:solidFill>
                  <a:srgbClr val="262626"/>
                </a:solidFill>
                <a:latin typeface="Arial"/>
              </a:rPr>
              <a:t>Kết luận &amp; hướng phát triển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828800" y="2560320"/>
            <a:ext cx="8503920" cy="1828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Arial"/>
              </a:rPr>
              <a:t>01</a:t>
            </a:r>
          </a:p>
          <a:p>
            <a:pPr algn="ctr">
              <a:spcBef>
                <a:spcPts val="800"/>
              </a:spcBef>
            </a:pPr>
            <a:r>
              <a:rPr sz="3400" b="1" i="0">
                <a:solidFill>
                  <a:srgbClr val="FFFFFF"/>
                </a:solidFill>
                <a:latin typeface="Arial"/>
              </a:rPr>
              <a:t>GIỚI THIỆU ĐỀ TÀI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201400" y="6309360"/>
            <a:ext cx="6858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 b="1">
                <a:solidFill>
                  <a:srgbClr val="C4122F"/>
                </a:solidFill>
                <a:latin typeface="Arial"/>
              </a:rPr>
              <a:t>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0584"/>
            <a:ext cx="86868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600" b="1" i="0">
                <a:solidFill>
                  <a:srgbClr val="FFFFFF"/>
                </a:solidFill>
                <a:latin typeface="Arial"/>
              </a:rPr>
              <a:t>1. Giới thiệu đề tài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70432"/>
            <a:ext cx="110642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3000" b="1" i="0">
                <a:solidFill>
                  <a:srgbClr val="C4122F"/>
                </a:solidFill>
                <a:latin typeface="Arial"/>
              </a:rPr>
              <a:t>Đặt vấn đề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03120"/>
            <a:ext cx="10881360" cy="2560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900" b="1" i="0">
                <a:solidFill>
                  <a:srgbClr val="C4122F"/>
                </a:solidFill>
                <a:latin typeface="Arial"/>
              </a:rPr>
              <a:t>•  </a:t>
            </a:r>
            <a:r>
              <a:rPr sz="1900" b="0" i="0">
                <a:solidFill>
                  <a:srgbClr val="262626"/>
                </a:solidFill>
                <a:latin typeface="Arial"/>
              </a:rPr>
              <a:t>Nhu cầu tìm địa điểm vui chơi cuối tuần cho trẻ em ngày càng lớn.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900" b="1" i="0">
                <a:solidFill>
                  <a:srgbClr val="C4122F"/>
                </a:solidFill>
                <a:latin typeface="Arial"/>
              </a:rPr>
              <a:t>•  </a:t>
            </a:r>
            <a:r>
              <a:rPr sz="1900" b="0" i="0">
                <a:solidFill>
                  <a:srgbClr val="262626"/>
                </a:solidFill>
                <a:latin typeface="Arial"/>
              </a:rPr>
              <a:t>Thông tin (vị trí, độ tuổi, giá vé, tiện ích, đánh giá) rải rác nhiều nguồn → mất công tổng hợp.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900" b="1" i="0">
                <a:solidFill>
                  <a:srgbClr val="C4122F"/>
                </a:solidFill>
                <a:latin typeface="Arial"/>
              </a:rPr>
              <a:t>•  </a:t>
            </a:r>
            <a:r>
              <a:rPr sz="1900" b="0" i="0">
                <a:solidFill>
                  <a:srgbClr val="262626"/>
                </a:solidFill>
                <a:latin typeface="Arial"/>
              </a:rPr>
              <a:t>Tìm kiếm từ khóa chưa phản ánh đúng ngữ cảnh: độ tuổi, vị trí gần, mức giá.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900" b="1" i="0">
                <a:solidFill>
                  <a:srgbClr val="C4122F"/>
                </a:solidFill>
                <a:latin typeface="Arial"/>
              </a:rPr>
              <a:t>•  </a:t>
            </a:r>
            <a:r>
              <a:rPr sz="1900" b="0" i="0">
                <a:solidFill>
                  <a:srgbClr val="262626"/>
                </a:solidFill>
                <a:latin typeface="Arial"/>
              </a:rPr>
              <a:t>Đặt vé – thanh toán – soát vé rời rạc, khó theo dõi và xác minh vé.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4343400"/>
            <a:ext cx="10881360" cy="1143000"/>
          </a:xfrm>
          <a:prstGeom prst="roundRect">
            <a:avLst/>
          </a:prstGeom>
          <a:solidFill>
            <a:srgbClr val="E3E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18872" rIns="128016" bIns="91440" rtlCol="0" anchor="t"/>
          <a:lstStyle/>
          <a:p>
            <a:pPr algn="l">
              <a:spcAft>
                <a:spcPts val="700"/>
              </a:spcAft>
            </a:pPr>
            <a:r>
              <a:rPr lang="en-US" sz="1900" b="1" i="0" dirty="0">
                <a:solidFill>
                  <a:srgbClr val="8C0B21"/>
                </a:solidFill>
                <a:latin typeface="Arial"/>
              </a:rPr>
              <a:t>=&gt; </a:t>
            </a:r>
            <a:r>
              <a:rPr sz="1900" b="1" i="0" dirty="0" err="1">
                <a:solidFill>
                  <a:srgbClr val="8C0B21"/>
                </a:solidFill>
                <a:latin typeface="Arial"/>
              </a:rPr>
              <a:t>Cần</a:t>
            </a:r>
            <a:r>
              <a:rPr sz="1900" b="1" i="0" dirty="0">
                <a:solidFill>
                  <a:srgbClr val="8C0B21"/>
                </a:solidFill>
                <a:latin typeface="Arial"/>
              </a:rPr>
              <a:t> </a:t>
            </a:r>
            <a:r>
              <a:rPr sz="1900" b="1" i="0" dirty="0" err="1">
                <a:solidFill>
                  <a:srgbClr val="8C0B21"/>
                </a:solidFill>
                <a:latin typeface="Arial"/>
              </a:rPr>
              <a:t>một</a:t>
            </a:r>
            <a:r>
              <a:rPr sz="1900" b="1" i="0" dirty="0">
                <a:solidFill>
                  <a:srgbClr val="8C0B21"/>
                </a:solidFill>
                <a:latin typeface="Arial"/>
              </a:rPr>
              <a:t> </a:t>
            </a:r>
            <a:r>
              <a:rPr sz="1900" b="1" i="0" dirty="0" err="1">
                <a:solidFill>
                  <a:srgbClr val="8C0B21"/>
                </a:solidFill>
                <a:latin typeface="Arial"/>
              </a:rPr>
              <a:t>nền</a:t>
            </a:r>
            <a:r>
              <a:rPr sz="1900" b="1" i="0" dirty="0">
                <a:solidFill>
                  <a:srgbClr val="8C0B21"/>
                </a:solidFill>
                <a:latin typeface="Arial"/>
              </a:rPr>
              <a:t> </a:t>
            </a:r>
            <a:r>
              <a:rPr sz="1900" b="1" i="0" dirty="0" err="1">
                <a:solidFill>
                  <a:srgbClr val="8C0B21"/>
                </a:solidFill>
                <a:latin typeface="Arial"/>
              </a:rPr>
              <a:t>tảng</a:t>
            </a:r>
            <a:r>
              <a:rPr sz="1900" b="1" i="0" dirty="0">
                <a:solidFill>
                  <a:srgbClr val="8C0B21"/>
                </a:solidFill>
                <a:latin typeface="Arial"/>
              </a:rPr>
              <a:t> </a:t>
            </a:r>
            <a:r>
              <a:rPr sz="1900" b="1" i="0" dirty="0" err="1">
                <a:solidFill>
                  <a:srgbClr val="8C0B21"/>
                </a:solidFill>
                <a:latin typeface="Arial"/>
              </a:rPr>
              <a:t>tập</a:t>
            </a:r>
            <a:r>
              <a:rPr sz="1900" b="1" i="0" dirty="0">
                <a:solidFill>
                  <a:srgbClr val="8C0B21"/>
                </a:solidFill>
                <a:latin typeface="Arial"/>
              </a:rPr>
              <a:t> </a:t>
            </a:r>
            <a:r>
              <a:rPr sz="1900" b="1" i="0" dirty="0" err="1">
                <a:solidFill>
                  <a:srgbClr val="8C0B21"/>
                </a:solidFill>
                <a:latin typeface="Arial"/>
              </a:rPr>
              <a:t>trung</a:t>
            </a:r>
            <a:r>
              <a:rPr lang="en-US" sz="1900" b="1" i="0" dirty="0">
                <a:solidFill>
                  <a:srgbClr val="8C0B21"/>
                </a:solidFill>
                <a:latin typeface="Arial"/>
              </a:rPr>
              <a:t>:</a:t>
            </a:r>
            <a:endParaRPr sz="1900" b="1" i="0" dirty="0">
              <a:solidFill>
                <a:srgbClr val="8C0B21"/>
              </a:solidFill>
              <a:latin typeface="Arial"/>
            </a:endParaRPr>
          </a:p>
          <a:p>
            <a:pPr>
              <a:lnSpc>
                <a:spcPct val="104000"/>
              </a:lnSpc>
              <a:spcAft>
                <a:spcPts val="500"/>
              </a:spcAft>
            </a:pPr>
            <a:r>
              <a:rPr sz="1700" b="1" i="0" dirty="0">
                <a:solidFill>
                  <a:srgbClr val="C4122F"/>
                </a:solidFill>
                <a:latin typeface="Arial"/>
              </a:rPr>
              <a:t>• </a:t>
            </a:r>
            <a:r>
              <a:rPr sz="1700" b="0" i="0" dirty="0">
                <a:solidFill>
                  <a:srgbClr val="262626"/>
                </a:solidFill>
                <a:latin typeface="Arial"/>
              </a:rPr>
              <a:t>Tra </a:t>
            </a:r>
            <a:r>
              <a:rPr sz="1700" b="0" i="0" dirty="0" err="1">
                <a:solidFill>
                  <a:srgbClr val="262626"/>
                </a:solidFill>
                <a:latin typeface="Arial"/>
              </a:rPr>
              <a:t>cứu</a:t>
            </a:r>
            <a:r>
              <a:rPr sz="1700" b="0" i="0" dirty="0">
                <a:solidFill>
                  <a:srgbClr val="262626"/>
                </a:solidFill>
                <a:latin typeface="Arial"/>
              </a:rPr>
              <a:t> · </a:t>
            </a:r>
            <a:r>
              <a:rPr sz="1700" b="0" i="0" dirty="0" err="1">
                <a:solidFill>
                  <a:srgbClr val="262626"/>
                </a:solidFill>
                <a:latin typeface="Arial"/>
              </a:rPr>
              <a:t>gợi</a:t>
            </a:r>
            <a:r>
              <a:rPr sz="1700" b="0" i="0" dirty="0">
                <a:solidFill>
                  <a:srgbClr val="262626"/>
                </a:solidFill>
                <a:latin typeface="Arial"/>
              </a:rPr>
              <a:t> ý · </a:t>
            </a:r>
            <a:r>
              <a:rPr sz="1700" b="0" i="0" dirty="0" err="1">
                <a:solidFill>
                  <a:srgbClr val="262626"/>
                </a:solidFill>
                <a:latin typeface="Arial"/>
              </a:rPr>
              <a:t>đặt</a:t>
            </a:r>
            <a:r>
              <a:rPr sz="170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700" b="0" i="0" dirty="0" err="1">
                <a:solidFill>
                  <a:srgbClr val="262626"/>
                </a:solidFill>
                <a:latin typeface="Arial"/>
              </a:rPr>
              <a:t>vé</a:t>
            </a:r>
            <a:r>
              <a:rPr sz="1700" b="0" i="0" dirty="0">
                <a:solidFill>
                  <a:srgbClr val="262626"/>
                </a:solidFill>
                <a:latin typeface="Arial"/>
              </a:rPr>
              <a:t> · </a:t>
            </a:r>
            <a:r>
              <a:rPr sz="1700" b="0" i="0" dirty="0" err="1">
                <a:solidFill>
                  <a:srgbClr val="262626"/>
                </a:solidFill>
                <a:latin typeface="Arial"/>
              </a:rPr>
              <a:t>vé</a:t>
            </a:r>
            <a:r>
              <a:rPr sz="1700" b="0" i="0" dirty="0">
                <a:solidFill>
                  <a:srgbClr val="262626"/>
                </a:solidFill>
                <a:latin typeface="Arial"/>
              </a:rPr>
              <a:t> QR · </a:t>
            </a:r>
            <a:r>
              <a:rPr sz="1700" b="0" i="0" dirty="0" err="1">
                <a:solidFill>
                  <a:srgbClr val="262626"/>
                </a:solidFill>
                <a:latin typeface="Arial"/>
              </a:rPr>
              <a:t>quản</a:t>
            </a:r>
            <a:r>
              <a:rPr sz="170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700" b="0" i="0" dirty="0" err="1">
                <a:solidFill>
                  <a:srgbClr val="262626"/>
                </a:solidFill>
                <a:latin typeface="Arial"/>
              </a:rPr>
              <a:t>trị</a:t>
            </a:r>
            <a:r>
              <a:rPr sz="170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700" b="0" i="0" dirty="0" err="1">
                <a:solidFill>
                  <a:srgbClr val="262626"/>
                </a:solidFill>
                <a:latin typeface="Arial"/>
              </a:rPr>
              <a:t>trong</a:t>
            </a:r>
            <a:r>
              <a:rPr sz="170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700" b="0" i="0" dirty="0" err="1">
                <a:solidFill>
                  <a:srgbClr val="262626"/>
                </a:solidFill>
                <a:latin typeface="Arial"/>
              </a:rPr>
              <a:t>cùng</a:t>
            </a:r>
            <a:r>
              <a:rPr sz="170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700" b="0" i="0" dirty="0" err="1">
                <a:solidFill>
                  <a:srgbClr val="262626"/>
                </a:solidFill>
                <a:latin typeface="Arial"/>
              </a:rPr>
              <a:t>một</a:t>
            </a:r>
            <a:r>
              <a:rPr sz="170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700" b="0" i="0" dirty="0" err="1">
                <a:solidFill>
                  <a:srgbClr val="262626"/>
                </a:solidFill>
                <a:latin typeface="Arial"/>
              </a:rPr>
              <a:t>hệ</a:t>
            </a:r>
            <a:r>
              <a:rPr sz="170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700" b="0" i="0" dirty="0" err="1">
                <a:solidFill>
                  <a:srgbClr val="262626"/>
                </a:solidFill>
                <a:latin typeface="Arial"/>
              </a:rPr>
              <a:t>thống</a:t>
            </a:r>
            <a:r>
              <a:rPr sz="1700" b="0" i="0" dirty="0">
                <a:solidFill>
                  <a:srgbClr val="262626"/>
                </a:solidFill>
                <a:latin typeface="Arial"/>
              </a:rPr>
              <a:t>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201400" y="6309360"/>
            <a:ext cx="6858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 b="1">
                <a:solidFill>
                  <a:srgbClr val="C4122F"/>
                </a:solidFill>
                <a:latin typeface="Arial"/>
              </a:rPr>
              <a:t>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0584"/>
            <a:ext cx="86868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600" b="1" i="0">
                <a:solidFill>
                  <a:srgbClr val="FFFFFF"/>
                </a:solidFill>
                <a:latin typeface="Arial"/>
              </a:rPr>
              <a:t>1. Giới thiệu đề tài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70432"/>
            <a:ext cx="110642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3000" b="1" i="0">
                <a:solidFill>
                  <a:srgbClr val="C4122F"/>
                </a:solidFill>
                <a:latin typeface="Arial"/>
              </a:rPr>
              <a:t>Khảo sát các nền tảng tương tự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965960"/>
          <a:ext cx="11064240" cy="3383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087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22910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Arial"/>
                        </a:rPr>
                        <a:t>Tiêu chí</a:t>
                      </a:r>
                    </a:p>
                  </a:txBody>
                  <a:tcPr marL="82296" marR="45720" anchor="ctr">
                    <a:solidFill>
                      <a:srgbClr val="8C0B2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Arial"/>
                        </a:rPr>
                        <a:t>Google Maps</a:t>
                      </a:r>
                    </a:p>
                  </a:txBody>
                  <a:tcPr marL="82296" marR="45720" anchor="ctr">
                    <a:solidFill>
                      <a:srgbClr val="8C0B2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Arial"/>
                        </a:rPr>
                        <a:t>Foody</a:t>
                      </a:r>
                    </a:p>
                  </a:txBody>
                  <a:tcPr marL="82296" marR="45720" anchor="ctr">
                    <a:solidFill>
                      <a:srgbClr val="8C0B2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Arial"/>
                        </a:rPr>
                        <a:t>Traveloka / Klook</a:t>
                      </a:r>
                    </a:p>
                  </a:txBody>
                  <a:tcPr marL="82296" marR="45720" anchor="ctr">
                    <a:solidFill>
                      <a:srgbClr val="8C0B2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Arial"/>
                        </a:rPr>
                        <a:t>Web trẻ em</a:t>
                      </a:r>
                    </a:p>
                  </a:txBody>
                  <a:tcPr marL="82296" marR="45720" anchor="ctr">
                    <a:solidFill>
                      <a:srgbClr val="8C0B2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Arial"/>
                        </a:rPr>
                        <a:t>TheWeekend</a:t>
                      </a:r>
                    </a:p>
                  </a:txBody>
                  <a:tcPr marL="82296" marR="45720" anchor="ctr">
                    <a:solidFill>
                      <a:srgbClr val="8C0B2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2910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262626"/>
                          </a:solidFill>
                          <a:latin typeface="Arial"/>
                        </a:rPr>
                        <a:t>Tra cứu địa điểm</a:t>
                      </a:r>
                    </a:p>
                  </a:txBody>
                  <a:tcPr marL="82296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262626"/>
                          </a:solidFill>
                          <a:latin typeface="Arial"/>
                        </a:rPr>
                        <a:t>Có</a:t>
                      </a:r>
                    </a:p>
                  </a:txBody>
                  <a:tcPr marL="82296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262626"/>
                          </a:solidFill>
                          <a:latin typeface="Arial"/>
                        </a:rPr>
                        <a:t>Có</a:t>
                      </a:r>
                    </a:p>
                  </a:txBody>
                  <a:tcPr marL="82296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262626"/>
                          </a:solidFill>
                          <a:latin typeface="Arial"/>
                        </a:rPr>
                        <a:t>Có</a:t>
                      </a:r>
                    </a:p>
                  </a:txBody>
                  <a:tcPr marL="82296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262626"/>
                          </a:solidFill>
                          <a:latin typeface="Arial"/>
                        </a:rPr>
                        <a:t>Một phần</a:t>
                      </a:r>
                    </a:p>
                  </a:txBody>
                  <a:tcPr marL="82296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262626"/>
                          </a:solidFill>
                          <a:latin typeface="Arial"/>
                        </a:rPr>
                        <a:t>Có</a:t>
                      </a:r>
                    </a:p>
                  </a:txBody>
                  <a:tcPr marL="82296" marR="45720" anchor="ctr">
                    <a:solidFill>
                      <a:srgbClr val="E6F4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2910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262626"/>
                          </a:solidFill>
                          <a:latin typeface="Arial"/>
                        </a:rPr>
                        <a:t>Lọc theo độ tuổi trẻ em</a:t>
                      </a:r>
                    </a:p>
                  </a:txBody>
                  <a:tcPr marL="82296" marR="45720" anchor="ctr"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262626"/>
                          </a:solidFill>
                          <a:latin typeface="Arial"/>
                        </a:rPr>
                        <a:t>Không</a:t>
                      </a:r>
                    </a:p>
                  </a:txBody>
                  <a:tcPr marL="82296" marR="45720" anchor="ctr"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262626"/>
                          </a:solidFill>
                          <a:latin typeface="Arial"/>
                        </a:rPr>
                        <a:t>Không</a:t>
                      </a:r>
                    </a:p>
                  </a:txBody>
                  <a:tcPr marL="82296" marR="45720" anchor="ctr"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262626"/>
                          </a:solidFill>
                          <a:latin typeface="Arial"/>
                        </a:rPr>
                        <a:t>Một phần</a:t>
                      </a:r>
                    </a:p>
                  </a:txBody>
                  <a:tcPr marL="82296" marR="45720" anchor="ctr"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262626"/>
                          </a:solidFill>
                          <a:latin typeface="Arial"/>
                        </a:rPr>
                        <a:t>Một phần</a:t>
                      </a:r>
                    </a:p>
                  </a:txBody>
                  <a:tcPr marL="82296" marR="45720" anchor="ctr"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262626"/>
                          </a:solidFill>
                          <a:latin typeface="Arial"/>
                        </a:rPr>
                        <a:t>Có</a:t>
                      </a:r>
                    </a:p>
                  </a:txBody>
                  <a:tcPr marL="82296" marR="45720" anchor="ctr">
                    <a:solidFill>
                      <a:srgbClr val="E6F4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2910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262626"/>
                          </a:solidFill>
                          <a:latin typeface="Arial"/>
                        </a:rPr>
                        <a:t>Gợi ý theo ngữ cảnh</a:t>
                      </a:r>
                    </a:p>
                  </a:txBody>
                  <a:tcPr marL="82296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262626"/>
                          </a:solidFill>
                          <a:latin typeface="Arial"/>
                        </a:rPr>
                        <a:t>Một phần</a:t>
                      </a:r>
                    </a:p>
                  </a:txBody>
                  <a:tcPr marL="82296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262626"/>
                          </a:solidFill>
                          <a:latin typeface="Arial"/>
                        </a:rPr>
                        <a:t>Một phần</a:t>
                      </a:r>
                    </a:p>
                  </a:txBody>
                  <a:tcPr marL="82296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262626"/>
                          </a:solidFill>
                          <a:latin typeface="Arial"/>
                        </a:rPr>
                        <a:t>Một phần</a:t>
                      </a:r>
                    </a:p>
                  </a:txBody>
                  <a:tcPr marL="82296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262626"/>
                          </a:solidFill>
                          <a:latin typeface="Arial"/>
                        </a:rPr>
                        <a:t>Không</a:t>
                      </a:r>
                    </a:p>
                  </a:txBody>
                  <a:tcPr marL="82296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262626"/>
                          </a:solidFill>
                          <a:latin typeface="Arial"/>
                        </a:rPr>
                        <a:t>Có</a:t>
                      </a:r>
                    </a:p>
                  </a:txBody>
                  <a:tcPr marL="82296" marR="45720" anchor="ctr">
                    <a:solidFill>
                      <a:srgbClr val="E6F4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2910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262626"/>
                          </a:solidFill>
                          <a:latin typeface="Arial"/>
                        </a:rPr>
                        <a:t>Chatbot theo dữ liệu địa điểm</a:t>
                      </a:r>
                    </a:p>
                  </a:txBody>
                  <a:tcPr marL="82296" marR="45720" anchor="ctr"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262626"/>
                          </a:solidFill>
                          <a:latin typeface="Arial"/>
                        </a:rPr>
                        <a:t>Không</a:t>
                      </a:r>
                    </a:p>
                  </a:txBody>
                  <a:tcPr marL="82296" marR="45720" anchor="ctr"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262626"/>
                          </a:solidFill>
                          <a:latin typeface="Arial"/>
                        </a:rPr>
                        <a:t>Không</a:t>
                      </a:r>
                    </a:p>
                  </a:txBody>
                  <a:tcPr marL="82296" marR="45720" anchor="ctr"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262626"/>
                          </a:solidFill>
                          <a:latin typeface="Arial"/>
                        </a:rPr>
                        <a:t>Một phần</a:t>
                      </a:r>
                    </a:p>
                  </a:txBody>
                  <a:tcPr marL="82296" marR="45720" anchor="ctr"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262626"/>
                          </a:solidFill>
                          <a:latin typeface="Arial"/>
                        </a:rPr>
                        <a:t>Không</a:t>
                      </a:r>
                    </a:p>
                  </a:txBody>
                  <a:tcPr marL="82296" marR="45720" anchor="ctr"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262626"/>
                          </a:solidFill>
                          <a:latin typeface="Arial"/>
                        </a:rPr>
                        <a:t>Có</a:t>
                      </a:r>
                    </a:p>
                  </a:txBody>
                  <a:tcPr marL="82296" marR="45720" anchor="ctr">
                    <a:solidFill>
                      <a:srgbClr val="E6F4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2910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262626"/>
                          </a:solidFill>
                          <a:latin typeface="Arial"/>
                        </a:rPr>
                        <a:t>Đặt vé &amp; thanh toán</a:t>
                      </a:r>
                    </a:p>
                  </a:txBody>
                  <a:tcPr marL="82296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262626"/>
                          </a:solidFill>
                          <a:latin typeface="Arial"/>
                        </a:rPr>
                        <a:t>Không</a:t>
                      </a:r>
                    </a:p>
                  </a:txBody>
                  <a:tcPr marL="82296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262626"/>
                          </a:solidFill>
                          <a:latin typeface="Arial"/>
                        </a:rPr>
                        <a:t>Một phần</a:t>
                      </a:r>
                    </a:p>
                  </a:txBody>
                  <a:tcPr marL="82296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262626"/>
                          </a:solidFill>
                          <a:latin typeface="Arial"/>
                        </a:rPr>
                        <a:t>Có</a:t>
                      </a:r>
                    </a:p>
                  </a:txBody>
                  <a:tcPr marL="82296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262626"/>
                          </a:solidFill>
                          <a:latin typeface="Arial"/>
                        </a:rPr>
                        <a:t>Một phần</a:t>
                      </a:r>
                    </a:p>
                  </a:txBody>
                  <a:tcPr marL="82296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262626"/>
                          </a:solidFill>
                          <a:latin typeface="Arial"/>
                        </a:rPr>
                        <a:t>Có</a:t>
                      </a:r>
                    </a:p>
                  </a:txBody>
                  <a:tcPr marL="82296" marR="45720" anchor="ctr">
                    <a:solidFill>
                      <a:srgbClr val="E6F4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2910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262626"/>
                          </a:solidFill>
                          <a:latin typeface="Arial"/>
                        </a:rPr>
                        <a:t>Vé QR &amp; check-in</a:t>
                      </a:r>
                    </a:p>
                  </a:txBody>
                  <a:tcPr marL="82296" marR="45720" anchor="ctr"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262626"/>
                          </a:solidFill>
                          <a:latin typeface="Arial"/>
                        </a:rPr>
                        <a:t>Không</a:t>
                      </a:r>
                    </a:p>
                  </a:txBody>
                  <a:tcPr marL="82296" marR="45720" anchor="ctr"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262626"/>
                          </a:solidFill>
                          <a:latin typeface="Arial"/>
                        </a:rPr>
                        <a:t>Không</a:t>
                      </a:r>
                    </a:p>
                  </a:txBody>
                  <a:tcPr marL="82296" marR="45720" anchor="ctr"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262626"/>
                          </a:solidFill>
                          <a:latin typeface="Arial"/>
                        </a:rPr>
                        <a:t>Có</a:t>
                      </a:r>
                    </a:p>
                  </a:txBody>
                  <a:tcPr marL="82296" marR="45720" anchor="ctr"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262626"/>
                          </a:solidFill>
                          <a:latin typeface="Arial"/>
                        </a:rPr>
                        <a:t>Một phần</a:t>
                      </a:r>
                    </a:p>
                  </a:txBody>
                  <a:tcPr marL="82296" marR="45720" anchor="ctr"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262626"/>
                          </a:solidFill>
                          <a:latin typeface="Arial"/>
                        </a:rPr>
                        <a:t>Có</a:t>
                      </a:r>
                    </a:p>
                  </a:txBody>
                  <a:tcPr marL="82296" marR="45720" anchor="ctr">
                    <a:solidFill>
                      <a:srgbClr val="E6F4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2910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262626"/>
                          </a:solidFill>
                          <a:latin typeface="Arial"/>
                        </a:rPr>
                        <a:t>Quản trị địa điểm &amp; vé</a:t>
                      </a:r>
                    </a:p>
                  </a:txBody>
                  <a:tcPr marL="82296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262626"/>
                          </a:solidFill>
                          <a:latin typeface="Arial"/>
                        </a:rPr>
                        <a:t>Một phần</a:t>
                      </a:r>
                    </a:p>
                  </a:txBody>
                  <a:tcPr marL="82296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262626"/>
                          </a:solidFill>
                          <a:latin typeface="Arial"/>
                        </a:rPr>
                        <a:t>Có</a:t>
                      </a:r>
                    </a:p>
                  </a:txBody>
                  <a:tcPr marL="82296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262626"/>
                          </a:solidFill>
                          <a:latin typeface="Arial"/>
                        </a:rPr>
                        <a:t>Có</a:t>
                      </a:r>
                    </a:p>
                  </a:txBody>
                  <a:tcPr marL="82296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262626"/>
                          </a:solidFill>
                          <a:latin typeface="Arial"/>
                        </a:rPr>
                        <a:t>Một phần</a:t>
                      </a:r>
                    </a:p>
                  </a:txBody>
                  <a:tcPr marL="82296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262626"/>
                          </a:solidFill>
                          <a:latin typeface="Arial"/>
                        </a:rPr>
                        <a:t>Có</a:t>
                      </a:r>
                    </a:p>
                  </a:txBody>
                  <a:tcPr marL="82296" marR="45720" anchor="ctr">
                    <a:solidFill>
                      <a:srgbClr val="E6F4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548640" y="5440680"/>
            <a:ext cx="11064240" cy="822960"/>
          </a:xfrm>
          <a:prstGeom prst="roundRect">
            <a:avLst/>
          </a:prstGeom>
          <a:solidFill>
            <a:srgbClr val="E3E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18872" rIns="128016" bIns="91440" rtlCol="0" anchor="t"/>
          <a:lstStyle/>
          <a:p>
            <a:pPr>
              <a:lnSpc>
                <a:spcPct val="104000"/>
              </a:lnSpc>
              <a:spcAft>
                <a:spcPts val="500"/>
              </a:spcAft>
            </a:pPr>
            <a:r>
              <a:rPr lang="en-US" sz="1600" b="1" dirty="0">
                <a:solidFill>
                  <a:srgbClr val="C4122F"/>
                </a:solidFill>
                <a:latin typeface="Arial"/>
              </a:rPr>
              <a:t>=&gt; </a:t>
            </a:r>
            <a:r>
              <a:rPr sz="1600" b="0" dirty="0" err="1">
                <a:solidFill>
                  <a:srgbClr val="262626"/>
                </a:solidFill>
                <a:latin typeface="Arial"/>
              </a:rPr>
              <a:t>Mỗi</a:t>
            </a:r>
            <a:r>
              <a:rPr sz="1600" b="0" dirty="0">
                <a:solidFill>
                  <a:srgbClr val="262626"/>
                </a:solidFill>
                <a:latin typeface="Arial"/>
              </a:rPr>
              <a:t> </a:t>
            </a:r>
            <a:r>
              <a:rPr sz="1600" b="0" dirty="0" err="1">
                <a:solidFill>
                  <a:srgbClr val="262626"/>
                </a:solidFill>
                <a:latin typeface="Arial"/>
              </a:rPr>
              <a:t>nền</a:t>
            </a:r>
            <a:r>
              <a:rPr sz="1600" b="0" dirty="0">
                <a:solidFill>
                  <a:srgbClr val="262626"/>
                </a:solidFill>
                <a:latin typeface="Arial"/>
              </a:rPr>
              <a:t> </a:t>
            </a:r>
            <a:r>
              <a:rPr sz="1600" b="0" dirty="0" err="1">
                <a:solidFill>
                  <a:srgbClr val="262626"/>
                </a:solidFill>
                <a:latin typeface="Arial"/>
              </a:rPr>
              <a:t>tảng</a:t>
            </a:r>
            <a:r>
              <a:rPr sz="1600" b="0" dirty="0">
                <a:solidFill>
                  <a:srgbClr val="262626"/>
                </a:solidFill>
                <a:latin typeface="Arial"/>
              </a:rPr>
              <a:t> </a:t>
            </a:r>
            <a:r>
              <a:rPr sz="1600" b="0" dirty="0" err="1">
                <a:solidFill>
                  <a:srgbClr val="262626"/>
                </a:solidFill>
                <a:latin typeface="Arial"/>
              </a:rPr>
              <a:t>mạnh</a:t>
            </a:r>
            <a:r>
              <a:rPr sz="1600" b="0" dirty="0">
                <a:solidFill>
                  <a:srgbClr val="262626"/>
                </a:solidFill>
                <a:latin typeface="Arial"/>
              </a:rPr>
              <a:t> ở </a:t>
            </a:r>
            <a:r>
              <a:rPr sz="1600" b="0" dirty="0" err="1">
                <a:solidFill>
                  <a:srgbClr val="262626"/>
                </a:solidFill>
                <a:latin typeface="Arial"/>
              </a:rPr>
              <a:t>một</a:t>
            </a:r>
            <a:r>
              <a:rPr sz="1600" b="0" dirty="0">
                <a:solidFill>
                  <a:srgbClr val="262626"/>
                </a:solidFill>
                <a:latin typeface="Arial"/>
              </a:rPr>
              <a:t> </a:t>
            </a:r>
            <a:r>
              <a:rPr sz="1600" b="0" dirty="0" err="1">
                <a:solidFill>
                  <a:srgbClr val="262626"/>
                </a:solidFill>
                <a:latin typeface="Arial"/>
              </a:rPr>
              <a:t>số</a:t>
            </a:r>
            <a:r>
              <a:rPr sz="1600" b="0" dirty="0">
                <a:solidFill>
                  <a:srgbClr val="262626"/>
                </a:solidFill>
                <a:latin typeface="Arial"/>
              </a:rPr>
              <a:t> </a:t>
            </a:r>
            <a:r>
              <a:rPr sz="1600" b="0" dirty="0" err="1">
                <a:solidFill>
                  <a:srgbClr val="262626"/>
                </a:solidFill>
                <a:latin typeface="Arial"/>
              </a:rPr>
              <a:t>nhóm</a:t>
            </a:r>
            <a:r>
              <a:rPr sz="1600" b="0" dirty="0">
                <a:solidFill>
                  <a:srgbClr val="262626"/>
                </a:solidFill>
                <a:latin typeface="Arial"/>
              </a:rPr>
              <a:t> </a:t>
            </a:r>
            <a:r>
              <a:rPr sz="1600" b="0" dirty="0" err="1">
                <a:solidFill>
                  <a:srgbClr val="262626"/>
                </a:solidFill>
                <a:latin typeface="Arial"/>
              </a:rPr>
              <a:t>chức</a:t>
            </a:r>
            <a:r>
              <a:rPr sz="1600" b="0" dirty="0">
                <a:solidFill>
                  <a:srgbClr val="262626"/>
                </a:solidFill>
                <a:latin typeface="Arial"/>
              </a:rPr>
              <a:t> </a:t>
            </a:r>
            <a:r>
              <a:rPr sz="1600" b="0" dirty="0" err="1">
                <a:solidFill>
                  <a:srgbClr val="262626"/>
                </a:solidFill>
                <a:latin typeface="Arial"/>
              </a:rPr>
              <a:t>năng</a:t>
            </a:r>
            <a:r>
              <a:rPr sz="1600" b="0" dirty="0">
                <a:solidFill>
                  <a:srgbClr val="262626"/>
                </a:solidFill>
                <a:latin typeface="Arial"/>
              </a:rPr>
              <a:t> </a:t>
            </a:r>
            <a:r>
              <a:rPr sz="1600" b="0" dirty="0" err="1">
                <a:solidFill>
                  <a:srgbClr val="262626"/>
                </a:solidFill>
                <a:latin typeface="Arial"/>
              </a:rPr>
              <a:t>riêng</a:t>
            </a:r>
            <a:r>
              <a:rPr sz="1600" b="0" dirty="0">
                <a:solidFill>
                  <a:srgbClr val="262626"/>
                </a:solidFill>
                <a:latin typeface="Arial"/>
              </a:rPr>
              <a:t>. </a:t>
            </a:r>
            <a:r>
              <a:rPr sz="1600" b="0" dirty="0" err="1">
                <a:solidFill>
                  <a:srgbClr val="262626"/>
                </a:solidFill>
                <a:latin typeface="Arial"/>
              </a:rPr>
              <a:t>TheWeekend</a:t>
            </a:r>
            <a:r>
              <a:rPr sz="1600" b="0" dirty="0">
                <a:solidFill>
                  <a:srgbClr val="262626"/>
                </a:solidFill>
                <a:latin typeface="Arial"/>
              </a:rPr>
              <a:t> </a:t>
            </a:r>
            <a:r>
              <a:rPr sz="1600" b="0" dirty="0" err="1">
                <a:solidFill>
                  <a:srgbClr val="262626"/>
                </a:solidFill>
                <a:latin typeface="Arial"/>
              </a:rPr>
              <a:t>hướng</a:t>
            </a:r>
            <a:r>
              <a:rPr sz="1600" b="0" dirty="0">
                <a:solidFill>
                  <a:srgbClr val="262626"/>
                </a:solidFill>
                <a:latin typeface="Arial"/>
              </a:rPr>
              <a:t> </a:t>
            </a:r>
            <a:r>
              <a:rPr sz="1600" b="0" dirty="0" err="1">
                <a:solidFill>
                  <a:srgbClr val="262626"/>
                </a:solidFill>
                <a:latin typeface="Arial"/>
              </a:rPr>
              <a:t>tới</a:t>
            </a:r>
            <a:r>
              <a:rPr sz="1600" b="0" dirty="0">
                <a:solidFill>
                  <a:srgbClr val="262626"/>
                </a:solidFill>
                <a:latin typeface="Arial"/>
              </a:rPr>
              <a:t> </a:t>
            </a:r>
            <a:r>
              <a:rPr sz="1600" b="0" dirty="0" err="1">
                <a:solidFill>
                  <a:srgbClr val="262626"/>
                </a:solidFill>
                <a:latin typeface="Arial"/>
              </a:rPr>
              <a:t>kết</a:t>
            </a:r>
            <a:r>
              <a:rPr sz="1600" b="0" dirty="0">
                <a:solidFill>
                  <a:srgbClr val="262626"/>
                </a:solidFill>
                <a:latin typeface="Arial"/>
              </a:rPr>
              <a:t> </a:t>
            </a:r>
            <a:r>
              <a:rPr sz="1600" b="0" dirty="0" err="1">
                <a:solidFill>
                  <a:srgbClr val="262626"/>
                </a:solidFill>
                <a:latin typeface="Arial"/>
              </a:rPr>
              <a:t>hợp</a:t>
            </a:r>
            <a:r>
              <a:rPr sz="1600" b="0" dirty="0">
                <a:solidFill>
                  <a:srgbClr val="262626"/>
                </a:solidFill>
                <a:latin typeface="Arial"/>
              </a:rPr>
              <a:t> </a:t>
            </a:r>
            <a:r>
              <a:rPr sz="1600" b="0" dirty="0" err="1">
                <a:solidFill>
                  <a:srgbClr val="262626"/>
                </a:solidFill>
                <a:latin typeface="Arial"/>
              </a:rPr>
              <a:t>lọc</a:t>
            </a:r>
            <a:r>
              <a:rPr sz="1600" b="0" dirty="0">
                <a:solidFill>
                  <a:srgbClr val="262626"/>
                </a:solidFill>
                <a:latin typeface="Arial"/>
              </a:rPr>
              <a:t> </a:t>
            </a:r>
            <a:r>
              <a:rPr sz="1600" b="0" dirty="0" err="1">
                <a:solidFill>
                  <a:srgbClr val="262626"/>
                </a:solidFill>
                <a:latin typeface="Arial"/>
              </a:rPr>
              <a:t>theo</a:t>
            </a:r>
            <a:r>
              <a:rPr sz="1600" b="0" dirty="0">
                <a:solidFill>
                  <a:srgbClr val="262626"/>
                </a:solidFill>
                <a:latin typeface="Arial"/>
              </a:rPr>
              <a:t> </a:t>
            </a:r>
            <a:r>
              <a:rPr sz="1600" b="0" dirty="0" err="1">
                <a:solidFill>
                  <a:srgbClr val="262626"/>
                </a:solidFill>
                <a:latin typeface="Arial"/>
              </a:rPr>
              <a:t>độ</a:t>
            </a:r>
            <a:r>
              <a:rPr sz="1600" b="0" dirty="0">
                <a:solidFill>
                  <a:srgbClr val="262626"/>
                </a:solidFill>
                <a:latin typeface="Arial"/>
              </a:rPr>
              <a:t> </a:t>
            </a:r>
            <a:r>
              <a:rPr sz="1600" b="0" dirty="0" err="1">
                <a:solidFill>
                  <a:srgbClr val="262626"/>
                </a:solidFill>
                <a:latin typeface="Arial"/>
              </a:rPr>
              <a:t>tuổi</a:t>
            </a:r>
            <a:r>
              <a:rPr sz="1600" b="0" dirty="0">
                <a:solidFill>
                  <a:srgbClr val="262626"/>
                </a:solidFill>
                <a:latin typeface="Arial"/>
              </a:rPr>
              <a:t>, </a:t>
            </a:r>
            <a:r>
              <a:rPr sz="1600" b="0" dirty="0" err="1">
                <a:solidFill>
                  <a:srgbClr val="262626"/>
                </a:solidFill>
                <a:latin typeface="Arial"/>
              </a:rPr>
              <a:t>gợi</a:t>
            </a:r>
            <a:r>
              <a:rPr sz="1600" b="0" dirty="0">
                <a:solidFill>
                  <a:srgbClr val="262626"/>
                </a:solidFill>
                <a:latin typeface="Arial"/>
              </a:rPr>
              <a:t> ý, chatbot </a:t>
            </a:r>
            <a:r>
              <a:rPr sz="1600" b="0" dirty="0" err="1">
                <a:solidFill>
                  <a:srgbClr val="262626"/>
                </a:solidFill>
                <a:latin typeface="Arial"/>
              </a:rPr>
              <a:t>và</a:t>
            </a:r>
            <a:r>
              <a:rPr sz="1600" b="0" dirty="0">
                <a:solidFill>
                  <a:srgbClr val="262626"/>
                </a:solidFill>
                <a:latin typeface="Arial"/>
              </a:rPr>
              <a:t> </a:t>
            </a:r>
            <a:r>
              <a:rPr sz="1600" b="0" dirty="0" err="1">
                <a:solidFill>
                  <a:srgbClr val="262626"/>
                </a:solidFill>
                <a:latin typeface="Arial"/>
              </a:rPr>
              <a:t>vé</a:t>
            </a:r>
            <a:r>
              <a:rPr sz="1600" b="0" dirty="0">
                <a:solidFill>
                  <a:srgbClr val="262626"/>
                </a:solidFill>
                <a:latin typeface="Arial"/>
              </a:rPr>
              <a:t> QR </a:t>
            </a:r>
            <a:r>
              <a:rPr sz="1600" b="0" dirty="0" err="1">
                <a:solidFill>
                  <a:srgbClr val="262626"/>
                </a:solidFill>
                <a:latin typeface="Arial"/>
              </a:rPr>
              <a:t>trong</a:t>
            </a:r>
            <a:r>
              <a:rPr sz="1600" b="0" dirty="0">
                <a:solidFill>
                  <a:srgbClr val="262626"/>
                </a:solidFill>
                <a:latin typeface="Arial"/>
              </a:rPr>
              <a:t> </a:t>
            </a:r>
            <a:r>
              <a:rPr sz="1600" b="0" dirty="0" err="1">
                <a:solidFill>
                  <a:srgbClr val="262626"/>
                </a:solidFill>
                <a:latin typeface="Arial"/>
              </a:rPr>
              <a:t>cùng</a:t>
            </a:r>
            <a:r>
              <a:rPr sz="1600" b="0" dirty="0">
                <a:solidFill>
                  <a:srgbClr val="262626"/>
                </a:solidFill>
                <a:latin typeface="Arial"/>
              </a:rPr>
              <a:t> </a:t>
            </a:r>
            <a:r>
              <a:rPr sz="1600" b="0" dirty="0" err="1">
                <a:solidFill>
                  <a:srgbClr val="262626"/>
                </a:solidFill>
                <a:latin typeface="Arial"/>
              </a:rPr>
              <a:t>một</a:t>
            </a:r>
            <a:r>
              <a:rPr sz="1600" b="0" dirty="0">
                <a:solidFill>
                  <a:srgbClr val="262626"/>
                </a:solidFill>
                <a:latin typeface="Arial"/>
              </a:rPr>
              <a:t> </a:t>
            </a:r>
            <a:r>
              <a:rPr sz="1600" b="0" dirty="0" err="1">
                <a:solidFill>
                  <a:srgbClr val="262626"/>
                </a:solidFill>
                <a:latin typeface="Arial"/>
              </a:rPr>
              <a:t>hệ</a:t>
            </a:r>
            <a:r>
              <a:rPr sz="1600" b="0" dirty="0">
                <a:solidFill>
                  <a:srgbClr val="262626"/>
                </a:solidFill>
                <a:latin typeface="Arial"/>
              </a:rPr>
              <a:t> </a:t>
            </a:r>
            <a:r>
              <a:rPr sz="1600" b="0" dirty="0" err="1">
                <a:solidFill>
                  <a:srgbClr val="262626"/>
                </a:solidFill>
                <a:latin typeface="Arial"/>
              </a:rPr>
              <a:t>thống</a:t>
            </a:r>
            <a:r>
              <a:rPr sz="1600" b="0" dirty="0">
                <a:solidFill>
                  <a:srgbClr val="262626"/>
                </a:solidFill>
                <a:latin typeface="Arial"/>
              </a:rPr>
              <a:t>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201400" y="6309360"/>
            <a:ext cx="6858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 b="1">
                <a:solidFill>
                  <a:srgbClr val="C4122F"/>
                </a:solidFill>
                <a:latin typeface="Arial"/>
              </a:rPr>
              <a:t>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0584"/>
            <a:ext cx="86868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600" b="1" i="0">
                <a:solidFill>
                  <a:srgbClr val="FFFFFF"/>
                </a:solidFill>
                <a:latin typeface="Arial"/>
              </a:rPr>
              <a:t>1. Giới thiệu đề tài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70432"/>
            <a:ext cx="110642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3000" b="1" i="0">
                <a:solidFill>
                  <a:srgbClr val="C4122F"/>
                </a:solidFill>
                <a:latin typeface="Arial"/>
              </a:rPr>
              <a:t>Mục tiêu &amp; phạm vi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011680"/>
            <a:ext cx="1088136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2000" b="1" i="0">
                <a:solidFill>
                  <a:srgbClr val="8C0B21"/>
                </a:solidFill>
                <a:latin typeface="Arial"/>
              </a:rPr>
              <a:t>Mục tiêu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800" b="1" i="0">
                <a:solidFill>
                  <a:srgbClr val="C4122F"/>
                </a:solidFill>
                <a:latin typeface="Arial"/>
              </a:rPr>
              <a:t>•  </a:t>
            </a:r>
            <a:r>
              <a:rPr sz="1800" b="0" i="0">
                <a:solidFill>
                  <a:srgbClr val="262626"/>
                </a:solidFill>
                <a:latin typeface="Arial"/>
              </a:rPr>
              <a:t>Xây dựng hệ thống web gợi ý địa điểm vui chơi cho trẻ em &amp; gia đình.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800" b="1" i="0">
                <a:solidFill>
                  <a:srgbClr val="C4122F"/>
                </a:solidFill>
                <a:latin typeface="Arial"/>
              </a:rPr>
              <a:t>•  </a:t>
            </a:r>
            <a:r>
              <a:rPr sz="1800" b="0" i="0">
                <a:solidFill>
                  <a:srgbClr val="262626"/>
                </a:solidFill>
                <a:latin typeface="Arial"/>
              </a:rPr>
              <a:t>Tích hợp đặt vé, thanh toán và soát vé điện tử trong cùng nền tảng.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429000"/>
            <a:ext cx="3657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100" b="1" i="0">
                <a:solidFill>
                  <a:srgbClr val="8C0B21"/>
                </a:solidFill>
                <a:latin typeface="Arial"/>
              </a:rPr>
              <a:t>Phạm vi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3931920"/>
            <a:ext cx="3502152" cy="2194560"/>
          </a:xfrm>
          <a:prstGeom prst="roundRect">
            <a:avLst/>
          </a:prstGeom>
          <a:solidFill>
            <a:srgbClr val="F1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18872" rIns="128016" bIns="91440" rtlCol="0" anchor="t"/>
          <a:lstStyle/>
          <a:p>
            <a:pPr algn="l">
              <a:spcAft>
                <a:spcPts val="700"/>
              </a:spcAft>
            </a:pPr>
            <a:r>
              <a:rPr sz="1800" b="1" i="0">
                <a:solidFill>
                  <a:srgbClr val="8C0B21"/>
                </a:solidFill>
                <a:latin typeface="Arial"/>
              </a:rPr>
              <a:t>Người dùng</a:t>
            </a:r>
          </a:p>
          <a:p>
            <a:pPr>
              <a:lnSpc>
                <a:spcPct val="104000"/>
              </a:lnSpc>
              <a:spcAft>
                <a:spcPts val="500"/>
              </a:spcAft>
            </a:pPr>
            <a:r>
              <a:rPr sz="1500" b="1" i="0">
                <a:solidFill>
                  <a:srgbClr val="C4122F"/>
                </a:solidFill>
                <a:latin typeface="Arial"/>
              </a:rPr>
              <a:t>• </a:t>
            </a:r>
            <a:r>
              <a:rPr sz="1500" b="0" i="0">
                <a:solidFill>
                  <a:srgbClr val="262626"/>
                </a:solidFill>
                <a:latin typeface="Arial"/>
              </a:rPr>
              <a:t>Đăng ký / đăng nhập</a:t>
            </a:r>
          </a:p>
          <a:p>
            <a:pPr>
              <a:lnSpc>
                <a:spcPct val="104000"/>
              </a:lnSpc>
              <a:spcAft>
                <a:spcPts val="500"/>
              </a:spcAft>
            </a:pPr>
            <a:r>
              <a:rPr sz="1500" b="1" i="0">
                <a:solidFill>
                  <a:srgbClr val="C4122F"/>
                </a:solidFill>
                <a:latin typeface="Arial"/>
              </a:rPr>
              <a:t>• </a:t>
            </a:r>
            <a:r>
              <a:rPr sz="1500" b="0" i="0">
                <a:solidFill>
                  <a:srgbClr val="262626"/>
                </a:solidFill>
                <a:latin typeface="Arial"/>
              </a:rPr>
              <a:t>Tìm kiếm, xem chi tiết</a:t>
            </a:r>
          </a:p>
          <a:p>
            <a:pPr>
              <a:lnSpc>
                <a:spcPct val="104000"/>
              </a:lnSpc>
              <a:spcAft>
                <a:spcPts val="500"/>
              </a:spcAft>
            </a:pPr>
            <a:r>
              <a:rPr sz="1500" b="1" i="0">
                <a:solidFill>
                  <a:srgbClr val="C4122F"/>
                </a:solidFill>
                <a:latin typeface="Arial"/>
              </a:rPr>
              <a:t>• </a:t>
            </a:r>
            <a:r>
              <a:rPr sz="1500" b="0" i="0">
                <a:solidFill>
                  <a:srgbClr val="262626"/>
                </a:solidFill>
                <a:latin typeface="Arial"/>
              </a:rPr>
              <a:t>Yêu thích, đánh giá</a:t>
            </a:r>
          </a:p>
          <a:p>
            <a:pPr>
              <a:lnSpc>
                <a:spcPct val="104000"/>
              </a:lnSpc>
              <a:spcAft>
                <a:spcPts val="500"/>
              </a:spcAft>
            </a:pPr>
            <a:r>
              <a:rPr sz="1500" b="1" i="0">
                <a:solidFill>
                  <a:srgbClr val="C4122F"/>
                </a:solidFill>
                <a:latin typeface="Arial"/>
              </a:rPr>
              <a:t>• </a:t>
            </a:r>
            <a:r>
              <a:rPr sz="1500" b="0" i="0">
                <a:solidFill>
                  <a:srgbClr val="262626"/>
                </a:solidFill>
                <a:latin typeface="Arial"/>
              </a:rPr>
              <a:t>Gợi ý, chatbot</a:t>
            </a:r>
          </a:p>
          <a:p>
            <a:pPr>
              <a:lnSpc>
                <a:spcPct val="104000"/>
              </a:lnSpc>
              <a:spcAft>
                <a:spcPts val="500"/>
              </a:spcAft>
            </a:pPr>
            <a:r>
              <a:rPr sz="1500" b="1" i="0">
                <a:solidFill>
                  <a:srgbClr val="C4122F"/>
                </a:solidFill>
                <a:latin typeface="Arial"/>
              </a:rPr>
              <a:t>• </a:t>
            </a:r>
            <a:r>
              <a:rPr sz="1500" b="0" i="0">
                <a:solidFill>
                  <a:srgbClr val="262626"/>
                </a:solidFill>
                <a:latin typeface="Arial"/>
              </a:rPr>
              <a:t>Đặt vé &amp; thanh toán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16552" y="3931920"/>
            <a:ext cx="3502152" cy="2194560"/>
          </a:xfrm>
          <a:prstGeom prst="roundRect">
            <a:avLst/>
          </a:prstGeom>
          <a:solidFill>
            <a:srgbClr val="F1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18872" rIns="128016" bIns="91440" rtlCol="0" anchor="t"/>
          <a:lstStyle/>
          <a:p>
            <a:pPr algn="l">
              <a:spcAft>
                <a:spcPts val="700"/>
              </a:spcAft>
            </a:pPr>
            <a:r>
              <a:rPr sz="1800" b="1" i="0">
                <a:solidFill>
                  <a:srgbClr val="8C0B21"/>
                </a:solidFill>
                <a:latin typeface="Arial"/>
              </a:rPr>
              <a:t>Quản trị / Nhân viên</a:t>
            </a:r>
          </a:p>
          <a:p>
            <a:pPr>
              <a:lnSpc>
                <a:spcPct val="104000"/>
              </a:lnSpc>
              <a:spcAft>
                <a:spcPts val="500"/>
              </a:spcAft>
            </a:pPr>
            <a:r>
              <a:rPr sz="1500" b="1" i="0">
                <a:solidFill>
                  <a:srgbClr val="C4122F"/>
                </a:solidFill>
                <a:latin typeface="Arial"/>
              </a:rPr>
              <a:t>• </a:t>
            </a:r>
            <a:r>
              <a:rPr sz="1500" b="0" i="0">
                <a:solidFill>
                  <a:srgbClr val="262626"/>
                </a:solidFill>
                <a:latin typeface="Arial"/>
              </a:rPr>
              <a:t>Quản lý địa điểm, người dùng</a:t>
            </a:r>
          </a:p>
          <a:p>
            <a:pPr>
              <a:lnSpc>
                <a:spcPct val="104000"/>
              </a:lnSpc>
              <a:spcAft>
                <a:spcPts val="500"/>
              </a:spcAft>
            </a:pPr>
            <a:r>
              <a:rPr sz="1500" b="1" i="0">
                <a:solidFill>
                  <a:srgbClr val="C4122F"/>
                </a:solidFill>
                <a:latin typeface="Arial"/>
              </a:rPr>
              <a:t>• </a:t>
            </a:r>
            <a:r>
              <a:rPr sz="1500" b="0" i="0">
                <a:solidFill>
                  <a:srgbClr val="262626"/>
                </a:solidFill>
                <a:latin typeface="Arial"/>
              </a:rPr>
              <a:t>Theo dõi đơn vé, thanh toán</a:t>
            </a:r>
          </a:p>
          <a:p>
            <a:pPr>
              <a:lnSpc>
                <a:spcPct val="104000"/>
              </a:lnSpc>
              <a:spcAft>
                <a:spcPts val="500"/>
              </a:spcAft>
            </a:pPr>
            <a:r>
              <a:rPr sz="1500" b="1" i="0">
                <a:solidFill>
                  <a:srgbClr val="C4122F"/>
                </a:solidFill>
                <a:latin typeface="Arial"/>
              </a:rPr>
              <a:t>• </a:t>
            </a:r>
            <a:r>
              <a:rPr sz="1500" b="0" i="0">
                <a:solidFill>
                  <a:srgbClr val="262626"/>
                </a:solidFill>
                <a:latin typeface="Arial"/>
              </a:rPr>
              <a:t>Duyệt ảnh đánh giá</a:t>
            </a:r>
          </a:p>
          <a:p>
            <a:pPr>
              <a:lnSpc>
                <a:spcPct val="104000"/>
              </a:lnSpc>
              <a:spcAft>
                <a:spcPts val="500"/>
              </a:spcAft>
            </a:pPr>
            <a:r>
              <a:rPr sz="1500" b="1" i="0">
                <a:solidFill>
                  <a:srgbClr val="C4122F"/>
                </a:solidFill>
                <a:latin typeface="Arial"/>
              </a:rPr>
              <a:t>• </a:t>
            </a:r>
            <a:r>
              <a:rPr sz="1500" b="0" i="0">
                <a:solidFill>
                  <a:srgbClr val="262626"/>
                </a:solidFill>
                <a:latin typeface="Arial"/>
              </a:rPr>
              <a:t>Soát vé check-in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93024" y="3931920"/>
            <a:ext cx="3502152" cy="2194560"/>
          </a:xfrm>
          <a:prstGeom prst="roundRect">
            <a:avLst/>
          </a:prstGeom>
          <a:solidFill>
            <a:srgbClr val="F1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18872" rIns="128016" bIns="91440" rtlCol="0" anchor="t"/>
          <a:lstStyle/>
          <a:p>
            <a:pPr algn="l">
              <a:spcAft>
                <a:spcPts val="700"/>
              </a:spcAft>
            </a:pPr>
            <a:r>
              <a:rPr sz="1800" b="1" i="0">
                <a:solidFill>
                  <a:srgbClr val="8C0B21"/>
                </a:solidFill>
                <a:latin typeface="Arial"/>
              </a:rPr>
              <a:t>Nền tảng</a:t>
            </a:r>
          </a:p>
          <a:p>
            <a:pPr>
              <a:lnSpc>
                <a:spcPct val="104000"/>
              </a:lnSpc>
              <a:spcAft>
                <a:spcPts val="500"/>
              </a:spcAft>
            </a:pPr>
            <a:r>
              <a:rPr sz="1500" b="1" i="0">
                <a:solidFill>
                  <a:srgbClr val="C4122F"/>
                </a:solidFill>
                <a:latin typeface="Arial"/>
              </a:rPr>
              <a:t>• </a:t>
            </a:r>
            <a:r>
              <a:rPr sz="1500" b="0" i="0">
                <a:solidFill>
                  <a:srgbClr val="262626"/>
                </a:solidFill>
                <a:latin typeface="Arial"/>
              </a:rPr>
              <a:t>Web: Vue 3</a:t>
            </a:r>
          </a:p>
          <a:p>
            <a:pPr>
              <a:lnSpc>
                <a:spcPct val="104000"/>
              </a:lnSpc>
              <a:spcAft>
                <a:spcPts val="500"/>
              </a:spcAft>
            </a:pPr>
            <a:r>
              <a:rPr sz="1500" b="1" i="0">
                <a:solidFill>
                  <a:srgbClr val="C4122F"/>
                </a:solidFill>
                <a:latin typeface="Arial"/>
              </a:rPr>
              <a:t>• </a:t>
            </a:r>
            <a:r>
              <a:rPr sz="1500" b="0" i="0">
                <a:solidFill>
                  <a:srgbClr val="262626"/>
                </a:solidFill>
                <a:latin typeface="Arial"/>
              </a:rPr>
              <a:t>Backend: Node.js + Express</a:t>
            </a:r>
          </a:p>
          <a:p>
            <a:pPr>
              <a:lnSpc>
                <a:spcPct val="104000"/>
              </a:lnSpc>
              <a:spcAft>
                <a:spcPts val="500"/>
              </a:spcAft>
            </a:pPr>
            <a:r>
              <a:rPr sz="1500" b="1" i="0">
                <a:solidFill>
                  <a:srgbClr val="C4122F"/>
                </a:solidFill>
                <a:latin typeface="Arial"/>
              </a:rPr>
              <a:t>• </a:t>
            </a:r>
            <a:r>
              <a:rPr sz="1500" b="0" i="0">
                <a:solidFill>
                  <a:srgbClr val="262626"/>
                </a:solidFill>
                <a:latin typeface="Arial"/>
              </a:rPr>
              <a:t>CSDL: MongoDB</a:t>
            </a:r>
          </a:p>
          <a:p>
            <a:pPr>
              <a:lnSpc>
                <a:spcPct val="104000"/>
              </a:lnSpc>
              <a:spcAft>
                <a:spcPts val="500"/>
              </a:spcAft>
            </a:pPr>
            <a:r>
              <a:rPr sz="1500" b="1" i="0">
                <a:solidFill>
                  <a:srgbClr val="C4122F"/>
                </a:solidFill>
                <a:latin typeface="Arial"/>
              </a:rPr>
              <a:t>• </a:t>
            </a:r>
            <a:r>
              <a:rPr sz="1500" b="0" i="0">
                <a:solidFill>
                  <a:srgbClr val="262626"/>
                </a:solidFill>
                <a:latin typeface="Arial"/>
              </a:rPr>
              <a:t>Android scanner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828800" y="2560320"/>
            <a:ext cx="8503920" cy="1828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Arial"/>
              </a:rPr>
              <a:t>02</a:t>
            </a:r>
          </a:p>
          <a:p>
            <a:pPr algn="ctr">
              <a:spcBef>
                <a:spcPts val="800"/>
              </a:spcBef>
            </a:pPr>
            <a:r>
              <a:rPr sz="3400" b="1" i="0">
                <a:solidFill>
                  <a:srgbClr val="FFFFFF"/>
                </a:solidFill>
                <a:latin typeface="Arial"/>
              </a:rPr>
              <a:t>PHÂN TÍCH &amp; THIẾT KẾ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201400" y="6309360"/>
            <a:ext cx="6858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 b="1">
                <a:solidFill>
                  <a:srgbClr val="C4122F"/>
                </a:solidFill>
                <a:latin typeface="Arial"/>
              </a:rPr>
              <a:t>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0584"/>
            <a:ext cx="86868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600" b="1" i="0">
                <a:solidFill>
                  <a:srgbClr val="FFFFFF"/>
                </a:solidFill>
                <a:latin typeface="Arial"/>
              </a:rPr>
              <a:t>2. Phân tích &amp; thiết kế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70432"/>
            <a:ext cx="110642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3000" b="1" i="0">
                <a:solidFill>
                  <a:srgbClr val="C4122F"/>
                </a:solidFill>
                <a:latin typeface="Arial"/>
              </a:rPr>
              <a:t>Tổng quan chức năng &amp; tác nhân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057400"/>
            <a:ext cx="5577840" cy="1005840"/>
          </a:xfrm>
          <a:prstGeom prst="roundRect">
            <a:avLst/>
          </a:prstGeom>
          <a:solidFill>
            <a:srgbClr val="F1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18872" rIns="128016" bIns="91440" rtlCol="0" anchor="t"/>
          <a:lstStyle/>
          <a:p>
            <a:pPr algn="l">
              <a:spcAft>
                <a:spcPts val="700"/>
              </a:spcAft>
            </a:pPr>
            <a:r>
              <a:rPr sz="1700" b="1" i="0">
                <a:solidFill>
                  <a:srgbClr val="8C0B21"/>
                </a:solidFill>
                <a:latin typeface="Arial"/>
              </a:rPr>
              <a:t>Khách (chưa đăng nhập)</a:t>
            </a:r>
          </a:p>
          <a:p>
            <a:pPr>
              <a:lnSpc>
                <a:spcPct val="104000"/>
              </a:lnSpc>
              <a:spcAft>
                <a:spcPts val="500"/>
              </a:spcAft>
            </a:pPr>
            <a:r>
              <a:rPr sz="1500" b="1" i="0">
                <a:solidFill>
                  <a:srgbClr val="C4122F"/>
                </a:solidFill>
                <a:latin typeface="Arial"/>
              </a:rPr>
              <a:t>• </a:t>
            </a:r>
            <a:r>
              <a:rPr sz="1500" b="0" i="0">
                <a:solidFill>
                  <a:srgbClr val="262626"/>
                </a:solidFill>
                <a:latin typeface="Arial"/>
              </a:rPr>
              <a:t>Đăng ký, đăng nhập, xem thông tin công khai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3127248"/>
            <a:ext cx="5577840" cy="1005840"/>
          </a:xfrm>
          <a:prstGeom prst="roundRect">
            <a:avLst/>
          </a:prstGeom>
          <a:solidFill>
            <a:srgbClr val="F1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18872" rIns="128016" bIns="91440" rtlCol="0" anchor="t"/>
          <a:lstStyle/>
          <a:p>
            <a:pPr algn="l">
              <a:spcAft>
                <a:spcPts val="700"/>
              </a:spcAft>
            </a:pPr>
            <a:r>
              <a:rPr sz="1700" b="1" i="0">
                <a:solidFill>
                  <a:srgbClr val="8C0B21"/>
                </a:solidFill>
                <a:latin typeface="Arial"/>
              </a:rPr>
              <a:t>Người dùng</a:t>
            </a:r>
          </a:p>
          <a:p>
            <a:pPr>
              <a:lnSpc>
                <a:spcPct val="104000"/>
              </a:lnSpc>
              <a:spcAft>
                <a:spcPts val="500"/>
              </a:spcAft>
            </a:pPr>
            <a:r>
              <a:rPr sz="1500" b="1" i="0">
                <a:solidFill>
                  <a:srgbClr val="C4122F"/>
                </a:solidFill>
                <a:latin typeface="Arial"/>
              </a:rPr>
              <a:t>• </a:t>
            </a:r>
            <a:r>
              <a:rPr sz="1500" b="0" i="0">
                <a:solidFill>
                  <a:srgbClr val="262626"/>
                </a:solidFill>
                <a:latin typeface="Arial"/>
              </a:rPr>
              <a:t>Tra cứu, gợi ý, chatbot, đánh giá, đặt vé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4197096"/>
            <a:ext cx="5577840" cy="1005840"/>
          </a:xfrm>
          <a:prstGeom prst="roundRect">
            <a:avLst/>
          </a:prstGeom>
          <a:solidFill>
            <a:srgbClr val="F1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18872" rIns="128016" bIns="91440" rtlCol="0" anchor="t"/>
          <a:lstStyle/>
          <a:p>
            <a:pPr algn="l">
              <a:spcAft>
                <a:spcPts val="700"/>
              </a:spcAft>
            </a:pPr>
            <a:r>
              <a:rPr sz="1700" b="1" i="0">
                <a:solidFill>
                  <a:srgbClr val="8C0B21"/>
                </a:solidFill>
                <a:latin typeface="Arial"/>
              </a:rPr>
              <a:t>Quản trị viên</a:t>
            </a:r>
          </a:p>
          <a:p>
            <a:pPr>
              <a:lnSpc>
                <a:spcPct val="104000"/>
              </a:lnSpc>
              <a:spcAft>
                <a:spcPts val="500"/>
              </a:spcAft>
            </a:pPr>
            <a:r>
              <a:rPr sz="1500" b="1" i="0">
                <a:solidFill>
                  <a:srgbClr val="C4122F"/>
                </a:solidFill>
                <a:latin typeface="Arial"/>
              </a:rPr>
              <a:t>• </a:t>
            </a:r>
            <a:r>
              <a:rPr sz="1500" b="0" i="0">
                <a:solidFill>
                  <a:srgbClr val="262626"/>
                </a:solidFill>
                <a:latin typeface="Arial"/>
              </a:rPr>
              <a:t>Quản lý người dùng, địa điểm, vé, thanh toán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5266944"/>
            <a:ext cx="5577840" cy="960120"/>
          </a:xfrm>
          <a:prstGeom prst="roundRect">
            <a:avLst/>
          </a:prstGeom>
          <a:solidFill>
            <a:srgbClr val="F1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18872" rIns="128016" bIns="91440" rtlCol="0" anchor="t"/>
          <a:lstStyle/>
          <a:p>
            <a:pPr algn="l">
              <a:spcAft>
                <a:spcPts val="700"/>
              </a:spcAft>
            </a:pPr>
            <a:r>
              <a:rPr sz="1700" b="1" i="0">
                <a:solidFill>
                  <a:srgbClr val="8C0B21"/>
                </a:solidFill>
                <a:latin typeface="Arial"/>
              </a:rPr>
              <a:t>Nhân viên</a:t>
            </a:r>
          </a:p>
          <a:p>
            <a:pPr>
              <a:lnSpc>
                <a:spcPct val="104000"/>
              </a:lnSpc>
              <a:spcAft>
                <a:spcPts val="500"/>
              </a:spcAft>
            </a:pPr>
            <a:r>
              <a:rPr sz="1500" b="1" i="0">
                <a:solidFill>
                  <a:srgbClr val="C4122F"/>
                </a:solidFill>
                <a:latin typeface="Arial"/>
              </a:rPr>
              <a:t>• </a:t>
            </a:r>
            <a:r>
              <a:rPr sz="1500" b="0" i="0">
                <a:solidFill>
                  <a:srgbClr val="262626"/>
                </a:solidFill>
                <a:latin typeface="Arial"/>
              </a:rPr>
              <a:t>Quét QR, xác minh và check-in vé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33399" y="1545670"/>
            <a:ext cx="2828386" cy="462418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201400" y="6309360"/>
            <a:ext cx="6858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 b="1">
                <a:solidFill>
                  <a:srgbClr val="C4122F"/>
                </a:solidFill>
                <a:latin typeface="Arial"/>
              </a:rPr>
              <a:t>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0584"/>
            <a:ext cx="86868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600" b="1" i="0">
                <a:solidFill>
                  <a:srgbClr val="FFFFFF"/>
                </a:solidFill>
                <a:latin typeface="Arial"/>
              </a:rPr>
              <a:t>2. Phân tích &amp; thiết kế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70432"/>
            <a:ext cx="110642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3000" b="1" i="0">
                <a:solidFill>
                  <a:srgbClr val="C4122F"/>
                </a:solidFill>
                <a:latin typeface="Arial"/>
              </a:rPr>
              <a:t>Kiến trúc hệ thống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057400"/>
            <a:ext cx="5486400" cy="2416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700" b="1" i="0" dirty="0">
                <a:solidFill>
                  <a:srgbClr val="C4122F"/>
                </a:solidFill>
                <a:latin typeface="Arial"/>
              </a:rPr>
              <a:t>•  </a:t>
            </a:r>
            <a:r>
              <a:rPr sz="1700" b="0" i="0" dirty="0">
                <a:solidFill>
                  <a:srgbClr val="262626"/>
                </a:solidFill>
                <a:latin typeface="Arial"/>
              </a:rPr>
              <a:t>Client–server, </a:t>
            </a:r>
            <a:r>
              <a:rPr sz="1700" b="0" i="0" dirty="0" err="1">
                <a:solidFill>
                  <a:srgbClr val="262626"/>
                </a:solidFill>
                <a:latin typeface="Arial"/>
              </a:rPr>
              <a:t>tách</a:t>
            </a:r>
            <a:r>
              <a:rPr sz="1700" b="0" i="0" dirty="0">
                <a:solidFill>
                  <a:srgbClr val="262626"/>
                </a:solidFill>
                <a:latin typeface="Arial"/>
              </a:rPr>
              <a:t> frontend/backend, </a:t>
            </a:r>
            <a:r>
              <a:rPr sz="1700" b="0" i="0" dirty="0" err="1">
                <a:solidFill>
                  <a:srgbClr val="262626"/>
                </a:solidFill>
                <a:latin typeface="Arial"/>
              </a:rPr>
              <a:t>giao</a:t>
            </a:r>
            <a:r>
              <a:rPr sz="170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700" b="0" i="0" dirty="0" err="1">
                <a:solidFill>
                  <a:srgbClr val="262626"/>
                </a:solidFill>
                <a:latin typeface="Arial"/>
              </a:rPr>
              <a:t>tiếp</a:t>
            </a:r>
            <a:r>
              <a:rPr sz="1700" b="0" i="0" dirty="0">
                <a:solidFill>
                  <a:srgbClr val="262626"/>
                </a:solidFill>
                <a:latin typeface="Arial"/>
              </a:rPr>
              <a:t> qua REST API.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700" b="1" i="0" dirty="0">
                <a:solidFill>
                  <a:srgbClr val="C4122F"/>
                </a:solidFill>
                <a:latin typeface="Arial"/>
              </a:rPr>
              <a:t>•  </a:t>
            </a:r>
            <a:r>
              <a:rPr sz="1700" b="0" i="0" dirty="0">
                <a:solidFill>
                  <a:srgbClr val="262626"/>
                </a:solidFill>
                <a:latin typeface="Arial"/>
              </a:rPr>
              <a:t>Frontend (Vue 3): </a:t>
            </a:r>
            <a:r>
              <a:rPr sz="1700" b="0" i="0" dirty="0" err="1">
                <a:solidFill>
                  <a:srgbClr val="262626"/>
                </a:solidFill>
                <a:latin typeface="Arial"/>
              </a:rPr>
              <a:t>trang</a:t>
            </a:r>
            <a:r>
              <a:rPr sz="170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700" b="0" i="0" dirty="0" err="1">
                <a:solidFill>
                  <a:srgbClr val="262626"/>
                </a:solidFill>
                <a:latin typeface="Arial"/>
              </a:rPr>
              <a:t>người</a:t>
            </a:r>
            <a:r>
              <a:rPr sz="170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700" b="0" i="0" dirty="0" err="1">
                <a:solidFill>
                  <a:srgbClr val="262626"/>
                </a:solidFill>
                <a:latin typeface="Arial"/>
              </a:rPr>
              <a:t>dùng</a:t>
            </a:r>
            <a:r>
              <a:rPr sz="1700" b="0" i="0" dirty="0">
                <a:solidFill>
                  <a:srgbClr val="262626"/>
                </a:solidFill>
                <a:latin typeface="Arial"/>
              </a:rPr>
              <a:t> &amp; </a:t>
            </a:r>
            <a:r>
              <a:rPr sz="1700" b="0" i="0" dirty="0" err="1">
                <a:solidFill>
                  <a:srgbClr val="262626"/>
                </a:solidFill>
                <a:latin typeface="Arial"/>
              </a:rPr>
              <a:t>quản</a:t>
            </a:r>
            <a:r>
              <a:rPr sz="170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700" b="0" i="0" dirty="0" err="1">
                <a:solidFill>
                  <a:srgbClr val="262626"/>
                </a:solidFill>
                <a:latin typeface="Arial"/>
              </a:rPr>
              <a:t>trị</a:t>
            </a:r>
            <a:r>
              <a:rPr sz="1700" b="0" i="0" dirty="0">
                <a:solidFill>
                  <a:srgbClr val="262626"/>
                </a:solidFill>
                <a:latin typeface="Arial"/>
              </a:rPr>
              <a:t>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700" b="1" i="0" dirty="0">
                <a:solidFill>
                  <a:srgbClr val="C4122F"/>
                </a:solidFill>
                <a:latin typeface="Arial"/>
              </a:rPr>
              <a:t>•  </a:t>
            </a:r>
            <a:r>
              <a:rPr sz="1700" b="0" i="0" dirty="0">
                <a:solidFill>
                  <a:srgbClr val="262626"/>
                </a:solidFill>
                <a:latin typeface="Arial"/>
              </a:rPr>
              <a:t>Backend (Node.js/Express): </a:t>
            </a:r>
            <a:r>
              <a:rPr sz="1700" b="0" i="0" dirty="0" err="1">
                <a:solidFill>
                  <a:srgbClr val="262626"/>
                </a:solidFill>
                <a:latin typeface="Arial"/>
              </a:rPr>
              <a:t>nghiệp</a:t>
            </a:r>
            <a:r>
              <a:rPr sz="170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700" b="0" i="0" dirty="0" err="1">
                <a:solidFill>
                  <a:srgbClr val="262626"/>
                </a:solidFill>
                <a:latin typeface="Arial"/>
              </a:rPr>
              <a:t>vụ</a:t>
            </a:r>
            <a:r>
              <a:rPr sz="1700" b="0" i="0" dirty="0">
                <a:solidFill>
                  <a:srgbClr val="262626"/>
                </a:solidFill>
                <a:latin typeface="Arial"/>
              </a:rPr>
              <a:t>, </a:t>
            </a:r>
            <a:r>
              <a:rPr sz="1700" b="0" i="0" dirty="0" err="1">
                <a:solidFill>
                  <a:srgbClr val="262626"/>
                </a:solidFill>
                <a:latin typeface="Arial"/>
              </a:rPr>
              <a:t>xác</a:t>
            </a:r>
            <a:r>
              <a:rPr sz="170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700" b="0" i="0" dirty="0" err="1">
                <a:solidFill>
                  <a:srgbClr val="262626"/>
                </a:solidFill>
                <a:latin typeface="Arial"/>
              </a:rPr>
              <a:t>thực</a:t>
            </a:r>
            <a:r>
              <a:rPr sz="1700" b="0" i="0" dirty="0">
                <a:solidFill>
                  <a:srgbClr val="262626"/>
                </a:solidFill>
                <a:latin typeface="Arial"/>
              </a:rPr>
              <a:t> JWT.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700" b="1" i="0" dirty="0">
                <a:solidFill>
                  <a:srgbClr val="C4122F"/>
                </a:solidFill>
                <a:latin typeface="Arial"/>
              </a:rPr>
              <a:t>•  </a:t>
            </a:r>
            <a:r>
              <a:rPr sz="1700" b="0" i="0" dirty="0">
                <a:solidFill>
                  <a:srgbClr val="262626"/>
                </a:solidFill>
                <a:latin typeface="Arial"/>
              </a:rPr>
              <a:t>MongoDB: </a:t>
            </a:r>
            <a:r>
              <a:rPr sz="1700" b="0" i="0" dirty="0" err="1">
                <a:solidFill>
                  <a:srgbClr val="262626"/>
                </a:solidFill>
                <a:latin typeface="Arial"/>
              </a:rPr>
              <a:t>địa</a:t>
            </a:r>
            <a:r>
              <a:rPr sz="170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700" b="0" i="0" dirty="0" err="1">
                <a:solidFill>
                  <a:srgbClr val="262626"/>
                </a:solidFill>
                <a:latin typeface="Arial"/>
              </a:rPr>
              <a:t>điểm</a:t>
            </a:r>
            <a:r>
              <a:rPr sz="1700" b="0" i="0" dirty="0">
                <a:solidFill>
                  <a:srgbClr val="262626"/>
                </a:solidFill>
                <a:latin typeface="Arial"/>
              </a:rPr>
              <a:t>, </a:t>
            </a:r>
            <a:r>
              <a:rPr sz="1700" b="0" i="0" dirty="0" err="1">
                <a:solidFill>
                  <a:srgbClr val="262626"/>
                </a:solidFill>
                <a:latin typeface="Arial"/>
              </a:rPr>
              <a:t>đánh</a:t>
            </a:r>
            <a:r>
              <a:rPr sz="170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700" b="0" i="0" dirty="0" err="1">
                <a:solidFill>
                  <a:srgbClr val="262626"/>
                </a:solidFill>
                <a:latin typeface="Arial"/>
              </a:rPr>
              <a:t>giá</a:t>
            </a:r>
            <a:r>
              <a:rPr sz="1700" b="0" i="0" dirty="0">
                <a:solidFill>
                  <a:srgbClr val="262626"/>
                </a:solidFill>
                <a:latin typeface="Arial"/>
              </a:rPr>
              <a:t>, booking, payment, </a:t>
            </a:r>
            <a:r>
              <a:rPr sz="1700" b="0" i="0" dirty="0" err="1">
                <a:solidFill>
                  <a:srgbClr val="262626"/>
                </a:solidFill>
                <a:latin typeface="Arial"/>
              </a:rPr>
              <a:t>vé</a:t>
            </a:r>
            <a:r>
              <a:rPr sz="1700" b="0" i="0" dirty="0">
                <a:solidFill>
                  <a:srgbClr val="262626"/>
                </a:solidFill>
                <a:latin typeface="Arial"/>
              </a:rPr>
              <a:t>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700" b="1" i="0" dirty="0">
                <a:solidFill>
                  <a:srgbClr val="C4122F"/>
                </a:solidFill>
                <a:latin typeface="Arial"/>
              </a:rPr>
              <a:t>•  </a:t>
            </a:r>
            <a:r>
              <a:rPr sz="1700" b="0" i="0" dirty="0" err="1">
                <a:solidFill>
                  <a:srgbClr val="262626"/>
                </a:solidFill>
                <a:latin typeface="Arial"/>
              </a:rPr>
              <a:t>Dịch</a:t>
            </a:r>
            <a:r>
              <a:rPr sz="170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700" b="0" i="0" dirty="0" err="1">
                <a:solidFill>
                  <a:srgbClr val="262626"/>
                </a:solidFill>
                <a:latin typeface="Arial"/>
              </a:rPr>
              <a:t>vụ</a:t>
            </a:r>
            <a:r>
              <a:rPr sz="170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700" b="0" i="0" dirty="0" err="1">
                <a:solidFill>
                  <a:srgbClr val="262626"/>
                </a:solidFill>
                <a:latin typeface="Arial"/>
              </a:rPr>
              <a:t>ngoài</a:t>
            </a:r>
            <a:r>
              <a:rPr sz="1700" b="0" i="0" dirty="0">
                <a:solidFill>
                  <a:srgbClr val="262626"/>
                </a:solidFill>
                <a:latin typeface="Arial"/>
              </a:rPr>
              <a:t>: </a:t>
            </a:r>
            <a:r>
              <a:rPr sz="1700" b="0" i="0" dirty="0" err="1">
                <a:solidFill>
                  <a:srgbClr val="262626"/>
                </a:solidFill>
                <a:latin typeface="Arial"/>
              </a:rPr>
              <a:t>PayOS</a:t>
            </a:r>
            <a:r>
              <a:rPr sz="1700" b="0" i="0" dirty="0">
                <a:solidFill>
                  <a:srgbClr val="262626"/>
                </a:solidFill>
                <a:latin typeface="Arial"/>
              </a:rPr>
              <a:t>, Gemini, </a:t>
            </a:r>
            <a:r>
              <a:rPr sz="1700" b="0" i="0" dirty="0" err="1">
                <a:solidFill>
                  <a:srgbClr val="262626"/>
                </a:solidFill>
                <a:latin typeface="Arial"/>
              </a:rPr>
              <a:t>Goong</a:t>
            </a:r>
            <a:r>
              <a:rPr sz="1700" b="0" i="0" dirty="0">
                <a:solidFill>
                  <a:srgbClr val="262626"/>
                </a:solidFill>
                <a:latin typeface="Arial"/>
              </a:rPr>
              <a:t> API.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700" b="1" i="0" dirty="0">
                <a:solidFill>
                  <a:srgbClr val="C4122F"/>
                </a:solidFill>
                <a:latin typeface="Arial"/>
              </a:rPr>
              <a:t>•  </a:t>
            </a:r>
            <a:r>
              <a:rPr sz="1700" b="0" i="0" dirty="0">
                <a:solidFill>
                  <a:srgbClr val="262626"/>
                </a:solidFill>
                <a:latin typeface="Arial"/>
              </a:rPr>
              <a:t>Android scanner (Java): </a:t>
            </a:r>
            <a:r>
              <a:rPr sz="1700" b="0" i="0" dirty="0" err="1">
                <a:solidFill>
                  <a:srgbClr val="262626"/>
                </a:solidFill>
                <a:latin typeface="Arial"/>
              </a:rPr>
              <a:t>quét</a:t>
            </a:r>
            <a:r>
              <a:rPr sz="1700" b="0" i="0" dirty="0">
                <a:solidFill>
                  <a:srgbClr val="262626"/>
                </a:solidFill>
                <a:latin typeface="Arial"/>
              </a:rPr>
              <a:t> QR.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8522" y="1318846"/>
            <a:ext cx="5422482" cy="4859216"/>
          </a:xfrm>
          <a:prstGeom prst="rect">
            <a:avLst/>
          </a:prstGeom>
          <a:ln w="9525">
            <a:solidFill>
              <a:srgbClr val="C9C9C9"/>
            </a:solidFill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201400" y="6309360"/>
            <a:ext cx="6858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 b="1">
                <a:solidFill>
                  <a:srgbClr val="C4122F"/>
                </a:solidFill>
                <a:latin typeface="Arial"/>
              </a:rPr>
              <a:t>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0584"/>
            <a:ext cx="86868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600" b="1" i="0">
                <a:solidFill>
                  <a:srgbClr val="FFFFFF"/>
                </a:solidFill>
                <a:latin typeface="Arial"/>
              </a:rPr>
              <a:t>2. Phân tích &amp; thiết kế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70432"/>
            <a:ext cx="110642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3000" b="1" i="0">
                <a:solidFill>
                  <a:srgbClr val="C4122F"/>
                </a:solidFill>
                <a:latin typeface="Arial"/>
              </a:rPr>
              <a:t>Thiết kế cơ sở dữ liệu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057400"/>
            <a:ext cx="4066735" cy="16850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600" b="1" i="0" dirty="0">
                <a:solidFill>
                  <a:srgbClr val="C4122F"/>
                </a:solidFill>
                <a:latin typeface="Arial"/>
              </a:rPr>
              <a:t>•  </a:t>
            </a:r>
            <a:r>
              <a:rPr sz="1600" b="0" i="0" dirty="0">
                <a:solidFill>
                  <a:srgbClr val="262626"/>
                </a:solidFill>
                <a:latin typeface="Arial"/>
              </a:rPr>
              <a:t>MongoDB, </a:t>
            </a:r>
            <a:r>
              <a:rPr sz="1600" b="0" i="0" dirty="0" err="1">
                <a:solidFill>
                  <a:srgbClr val="262626"/>
                </a:solidFill>
                <a:latin typeface="Arial"/>
              </a:rPr>
              <a:t>quản</a:t>
            </a:r>
            <a:r>
              <a:rPr sz="160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600" b="0" i="0" dirty="0" err="1">
                <a:solidFill>
                  <a:srgbClr val="262626"/>
                </a:solidFill>
                <a:latin typeface="Arial"/>
              </a:rPr>
              <a:t>lý</a:t>
            </a:r>
            <a:r>
              <a:rPr sz="1600" b="0" i="0" dirty="0">
                <a:solidFill>
                  <a:srgbClr val="262626"/>
                </a:solidFill>
                <a:latin typeface="Arial"/>
              </a:rPr>
              <a:t> qua Mongoose.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600" b="1" i="0" dirty="0">
                <a:solidFill>
                  <a:srgbClr val="C4122F"/>
                </a:solidFill>
                <a:latin typeface="Arial"/>
              </a:rPr>
              <a:t>•  </a:t>
            </a:r>
            <a:r>
              <a:rPr sz="1600" b="0" i="0" dirty="0">
                <a:solidFill>
                  <a:srgbClr val="262626"/>
                </a:solidFill>
                <a:latin typeface="Arial"/>
              </a:rPr>
              <a:t>Place – Category – Tag: </a:t>
            </a:r>
            <a:r>
              <a:rPr sz="1600" b="0" i="0" dirty="0" err="1">
                <a:solidFill>
                  <a:srgbClr val="262626"/>
                </a:solidFill>
                <a:latin typeface="Arial"/>
              </a:rPr>
              <a:t>dữ</a:t>
            </a:r>
            <a:r>
              <a:rPr sz="160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600" b="0" i="0" dirty="0" err="1">
                <a:solidFill>
                  <a:srgbClr val="262626"/>
                </a:solidFill>
                <a:latin typeface="Arial"/>
              </a:rPr>
              <a:t>liệu</a:t>
            </a:r>
            <a:r>
              <a:rPr sz="160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600" b="0" i="0" dirty="0" err="1">
                <a:solidFill>
                  <a:srgbClr val="262626"/>
                </a:solidFill>
                <a:latin typeface="Arial"/>
              </a:rPr>
              <a:t>địa</a:t>
            </a:r>
            <a:r>
              <a:rPr sz="160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600" b="0" i="0" dirty="0" err="1">
                <a:solidFill>
                  <a:srgbClr val="262626"/>
                </a:solidFill>
                <a:latin typeface="Arial"/>
              </a:rPr>
              <a:t>điểm</a:t>
            </a:r>
            <a:r>
              <a:rPr sz="1600" b="0" i="0" dirty="0">
                <a:solidFill>
                  <a:srgbClr val="262626"/>
                </a:solidFill>
                <a:latin typeface="Arial"/>
              </a:rPr>
              <a:t>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600" b="1" i="0" dirty="0">
                <a:solidFill>
                  <a:srgbClr val="C4122F"/>
                </a:solidFill>
                <a:latin typeface="Arial"/>
              </a:rPr>
              <a:t>•  </a:t>
            </a:r>
            <a:r>
              <a:rPr sz="1600" b="0" i="0" dirty="0">
                <a:solidFill>
                  <a:srgbClr val="262626"/>
                </a:solidFill>
                <a:latin typeface="Arial"/>
              </a:rPr>
              <a:t>Booking – Payment – Ticket: </a:t>
            </a:r>
            <a:r>
              <a:rPr sz="1600" b="0" i="0" dirty="0" err="1">
                <a:solidFill>
                  <a:srgbClr val="262626"/>
                </a:solidFill>
                <a:latin typeface="Arial"/>
              </a:rPr>
              <a:t>luồng</a:t>
            </a:r>
            <a:r>
              <a:rPr sz="160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600" b="0" i="0" dirty="0" err="1">
                <a:solidFill>
                  <a:srgbClr val="262626"/>
                </a:solidFill>
                <a:latin typeface="Arial"/>
              </a:rPr>
              <a:t>đặt</a:t>
            </a:r>
            <a:r>
              <a:rPr lang="en-US" sz="1600" dirty="0">
                <a:solidFill>
                  <a:srgbClr val="262626"/>
                </a:solidFill>
                <a:latin typeface="Arial"/>
              </a:rPr>
              <a:t> </a:t>
            </a:r>
            <a:r>
              <a:rPr sz="1600" b="0" i="0" dirty="0" err="1">
                <a:solidFill>
                  <a:srgbClr val="262626"/>
                </a:solidFill>
                <a:latin typeface="Arial"/>
              </a:rPr>
              <a:t>vé</a:t>
            </a:r>
            <a:r>
              <a:rPr sz="1600" b="0" i="0" dirty="0">
                <a:solidFill>
                  <a:srgbClr val="262626"/>
                </a:solidFill>
                <a:latin typeface="Arial"/>
              </a:rPr>
              <a:t>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600" b="1" i="0" dirty="0">
                <a:solidFill>
                  <a:srgbClr val="C4122F"/>
                </a:solidFill>
                <a:latin typeface="Arial"/>
              </a:rPr>
              <a:t>•  </a:t>
            </a:r>
            <a:r>
              <a:rPr sz="1600" b="0" i="0" dirty="0">
                <a:solidFill>
                  <a:srgbClr val="262626"/>
                </a:solidFill>
                <a:latin typeface="Arial"/>
              </a:rPr>
              <a:t>Ticket </a:t>
            </a:r>
            <a:r>
              <a:rPr sz="1600" b="0" i="0" dirty="0" err="1">
                <a:solidFill>
                  <a:srgbClr val="262626"/>
                </a:solidFill>
                <a:latin typeface="Arial"/>
              </a:rPr>
              <a:t>có</a:t>
            </a:r>
            <a:r>
              <a:rPr sz="160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600" b="0" i="0" dirty="0" err="1">
                <a:solidFill>
                  <a:srgbClr val="262626"/>
                </a:solidFill>
                <a:latin typeface="Arial"/>
              </a:rPr>
              <a:t>qrPayload</a:t>
            </a:r>
            <a:r>
              <a:rPr sz="1600" b="0" i="0" dirty="0">
                <a:solidFill>
                  <a:srgbClr val="262626"/>
                </a:solidFill>
                <a:latin typeface="Arial"/>
              </a:rPr>
              <a:t>, status, </a:t>
            </a:r>
            <a:r>
              <a:rPr sz="1600" b="0" i="0" dirty="0" err="1">
                <a:solidFill>
                  <a:srgbClr val="262626"/>
                </a:solidFill>
                <a:latin typeface="Arial"/>
              </a:rPr>
              <a:t>usedAt</a:t>
            </a:r>
            <a:r>
              <a:rPr sz="1600" b="0" i="0" dirty="0">
                <a:solidFill>
                  <a:srgbClr val="262626"/>
                </a:solidFill>
                <a:latin typeface="Arial"/>
              </a:rPr>
              <a:t>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600" b="1" i="0" dirty="0">
                <a:solidFill>
                  <a:srgbClr val="C4122F"/>
                </a:solidFill>
                <a:latin typeface="Arial"/>
              </a:rPr>
              <a:t>•  </a:t>
            </a:r>
            <a:r>
              <a:rPr sz="1600" b="0" i="0" dirty="0">
                <a:solidFill>
                  <a:srgbClr val="262626"/>
                </a:solidFill>
                <a:latin typeface="Arial"/>
              </a:rPr>
              <a:t>Review, Favorite, Notification.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70084" y="1352843"/>
            <a:ext cx="6281836" cy="4956517"/>
          </a:xfrm>
          <a:prstGeom prst="rect">
            <a:avLst/>
          </a:prstGeom>
          <a:ln w="9525">
            <a:solidFill>
              <a:srgbClr val="C9C9C9"/>
            </a:solidFill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201400" y="6309360"/>
            <a:ext cx="6858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 b="1">
                <a:solidFill>
                  <a:srgbClr val="C4122F"/>
                </a:solidFill>
                <a:latin typeface="Arial"/>
              </a:rPr>
              <a:t>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0584"/>
            <a:ext cx="86868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600" b="1" i="0">
                <a:solidFill>
                  <a:srgbClr val="FFFFFF"/>
                </a:solidFill>
                <a:latin typeface="Arial"/>
              </a:rPr>
              <a:t>2. Phân tích &amp; thiết kế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70432"/>
            <a:ext cx="110642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3000" b="1" i="0">
                <a:solidFill>
                  <a:srgbClr val="C4122F"/>
                </a:solidFill>
                <a:latin typeface="Arial"/>
              </a:rPr>
              <a:t>Công nghệ sử dụng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057400"/>
            <a:ext cx="5349240" cy="2011680"/>
          </a:xfrm>
          <a:prstGeom prst="roundRect">
            <a:avLst/>
          </a:prstGeom>
          <a:solidFill>
            <a:srgbClr val="F1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41247" y="2176272"/>
            <a:ext cx="4983479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800" b="1" i="0">
                <a:solidFill>
                  <a:srgbClr val="8C0B21"/>
                </a:solidFill>
                <a:latin typeface="Arial"/>
              </a:rPr>
              <a:t>Frontend &amp; Mobile</a:t>
            </a:r>
          </a:p>
        </p:txBody>
      </p:sp>
      <p:pic>
        <p:nvPicPr>
          <p:cNvPr id="7" name="Picture 6" descr="v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7369" y="2606040"/>
            <a:ext cx="548640" cy="5486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68679" y="3264408"/>
            <a:ext cx="24460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1" i="0">
                <a:solidFill>
                  <a:srgbClr val="262626"/>
                </a:solidFill>
                <a:latin typeface="Arial"/>
              </a:rPr>
              <a:t>Vue 3</a:t>
            </a:r>
          </a:p>
        </p:txBody>
      </p:sp>
      <p:pic>
        <p:nvPicPr>
          <p:cNvPr id="9" name="Picture 8" descr="androi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3390" y="2606040"/>
            <a:ext cx="548640" cy="54864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314699" y="3264408"/>
            <a:ext cx="24460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1" i="0">
                <a:solidFill>
                  <a:srgbClr val="262626"/>
                </a:solidFill>
                <a:latin typeface="Arial"/>
              </a:rPr>
              <a:t>Android scanner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2057400"/>
            <a:ext cx="5349240" cy="2011680"/>
          </a:xfrm>
          <a:prstGeom prst="roundRect">
            <a:avLst/>
          </a:prstGeom>
          <a:solidFill>
            <a:srgbClr val="F1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19088" y="2176272"/>
            <a:ext cx="4983479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800" b="1" i="0">
                <a:solidFill>
                  <a:srgbClr val="8C0B21"/>
                </a:solidFill>
                <a:latin typeface="Arial"/>
              </a:rPr>
              <a:t>Backend &amp; Dữ liệu</a:t>
            </a:r>
          </a:p>
        </p:txBody>
      </p:sp>
      <p:pic>
        <p:nvPicPr>
          <p:cNvPr id="14" name="Picture 13" descr="nod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3705" y="2606040"/>
            <a:ext cx="548640" cy="54864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446520" y="3264408"/>
            <a:ext cx="122301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1" i="0">
                <a:solidFill>
                  <a:srgbClr val="262626"/>
                </a:solidFill>
                <a:latin typeface="Arial"/>
              </a:rPr>
              <a:t>Node.js</a:t>
            </a:r>
          </a:p>
        </p:txBody>
      </p:sp>
      <p:pic>
        <p:nvPicPr>
          <p:cNvPr id="16" name="Picture 15" descr="expres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06714" y="2606040"/>
            <a:ext cx="548640" cy="54864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7669529" y="3264408"/>
            <a:ext cx="122301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1" i="0">
                <a:solidFill>
                  <a:srgbClr val="262626"/>
                </a:solidFill>
                <a:latin typeface="Arial"/>
              </a:rPr>
              <a:t>Express</a:t>
            </a:r>
          </a:p>
        </p:txBody>
      </p:sp>
      <p:pic>
        <p:nvPicPr>
          <p:cNvPr id="18" name="Picture 17" descr="mongodb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29725" y="2606040"/>
            <a:ext cx="548640" cy="54864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8892540" y="3264408"/>
            <a:ext cx="122301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1" i="0">
                <a:solidFill>
                  <a:srgbClr val="262626"/>
                </a:solidFill>
                <a:latin typeface="Arial"/>
              </a:rPr>
              <a:t>MongoDB</a:t>
            </a:r>
          </a:p>
        </p:txBody>
      </p:sp>
      <p:pic>
        <p:nvPicPr>
          <p:cNvPr id="20" name="Picture 19" descr="jwt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452734" y="2606040"/>
            <a:ext cx="548640" cy="54864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10115550" y="3264408"/>
            <a:ext cx="122301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1" i="0">
                <a:solidFill>
                  <a:srgbClr val="262626"/>
                </a:solidFill>
                <a:latin typeface="Arial"/>
              </a:rPr>
              <a:t>JWT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4206240"/>
            <a:ext cx="5349240" cy="2011680"/>
          </a:xfrm>
          <a:prstGeom prst="roundRect">
            <a:avLst/>
          </a:prstGeom>
          <a:solidFill>
            <a:srgbClr val="F1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41247" y="4325112"/>
            <a:ext cx="4983479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800" b="1" i="0">
                <a:solidFill>
                  <a:srgbClr val="8C0B21"/>
                </a:solidFill>
                <a:latin typeface="Arial"/>
              </a:rPr>
              <a:t>Dịch vụ tích hợp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98219" y="4937759"/>
            <a:ext cx="1371600" cy="566928"/>
          </a:xfrm>
          <a:prstGeom prst="roundRect">
            <a:avLst/>
          </a:prstGeom>
          <a:solidFill>
            <a:srgbClr val="0B5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500" b="1" i="0">
                <a:solidFill>
                  <a:srgbClr val="FFFFFF"/>
                </a:solidFill>
                <a:latin typeface="Arial"/>
              </a:rPr>
              <a:t>PayOS</a:t>
            </a:r>
          </a:p>
        </p:txBody>
      </p:sp>
      <p:pic>
        <p:nvPicPr>
          <p:cNvPr id="26" name="Picture 25" descr="gemini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040380" y="4754879"/>
            <a:ext cx="548640" cy="54864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499360" y="5413247"/>
            <a:ext cx="1630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1" i="0">
                <a:solidFill>
                  <a:srgbClr val="262626"/>
                </a:solidFill>
                <a:latin typeface="Arial"/>
              </a:rPr>
              <a:t>Gemini API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259580" y="4937759"/>
            <a:ext cx="1371600" cy="566928"/>
          </a:xfrm>
          <a:prstGeom prst="roundRect">
            <a:avLst/>
          </a:prstGeom>
          <a:solidFill>
            <a:srgbClr val="0089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500" b="1" i="0">
                <a:solidFill>
                  <a:srgbClr val="FFFFFF"/>
                </a:solidFill>
                <a:latin typeface="Arial"/>
              </a:rPr>
              <a:t>Goong API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17920" y="4206240"/>
            <a:ext cx="5349240" cy="2011680"/>
          </a:xfrm>
          <a:prstGeom prst="roundRect">
            <a:avLst/>
          </a:prstGeom>
          <a:solidFill>
            <a:srgbClr val="F1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419088" y="4325112"/>
            <a:ext cx="4983479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800" b="1" i="0">
                <a:solidFill>
                  <a:srgbClr val="8C0B21"/>
                </a:solidFill>
                <a:latin typeface="Arial"/>
              </a:rPr>
              <a:t>Kiểm thử &amp; vận hành</a:t>
            </a:r>
          </a:p>
        </p:txBody>
      </p:sp>
      <p:pic>
        <p:nvPicPr>
          <p:cNvPr id="32" name="Picture 31" descr="postman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618219" y="4754879"/>
            <a:ext cx="548640" cy="548640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6446520" y="5413247"/>
            <a:ext cx="4892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1" i="0">
                <a:solidFill>
                  <a:srgbClr val="262626"/>
                </a:solidFill>
                <a:latin typeface="Arial"/>
              </a:rPr>
              <a:t>Postman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828800" y="2560320"/>
            <a:ext cx="8503920" cy="1828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Arial"/>
              </a:rPr>
              <a:t>03</a:t>
            </a:r>
          </a:p>
          <a:p>
            <a:pPr algn="ctr">
              <a:spcBef>
                <a:spcPts val="800"/>
              </a:spcBef>
            </a:pPr>
            <a:r>
              <a:rPr sz="3400" b="1" i="0">
                <a:solidFill>
                  <a:srgbClr val="FFFFFF"/>
                </a:solidFill>
                <a:latin typeface="Arial"/>
              </a:rPr>
              <a:t>CÁC CHỨC NĂNG CHÍNH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201400" y="6309360"/>
            <a:ext cx="6858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 b="1">
                <a:solidFill>
                  <a:srgbClr val="C4122F"/>
                </a:solidFill>
                <a:latin typeface="Arial"/>
              </a:rPr>
              <a:t>13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0584"/>
            <a:ext cx="86868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600" b="1" i="0">
                <a:solidFill>
                  <a:srgbClr val="FFFFFF"/>
                </a:solidFill>
                <a:latin typeface="Arial"/>
              </a:rPr>
              <a:t>3. Các chức năng chính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70432"/>
            <a:ext cx="110642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3000" b="1" i="0">
                <a:solidFill>
                  <a:srgbClr val="C4122F"/>
                </a:solidFill>
                <a:latin typeface="Arial"/>
              </a:rPr>
              <a:t>Đăng nhập &amp; phân quyền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03120"/>
            <a:ext cx="10881360" cy="110491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900" b="1" i="0" dirty="0">
                <a:solidFill>
                  <a:srgbClr val="C4122F"/>
                </a:solidFill>
                <a:latin typeface="Arial"/>
              </a:rPr>
              <a:t>•  </a:t>
            </a:r>
            <a:r>
              <a:rPr sz="1900" b="0" i="0" dirty="0" err="1">
                <a:solidFill>
                  <a:srgbClr val="262626"/>
                </a:solidFill>
                <a:latin typeface="Arial"/>
              </a:rPr>
              <a:t>Xác</a:t>
            </a:r>
            <a:r>
              <a:rPr sz="190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900" b="0" i="0" dirty="0" err="1">
                <a:solidFill>
                  <a:srgbClr val="262626"/>
                </a:solidFill>
                <a:latin typeface="Arial"/>
              </a:rPr>
              <a:t>thực</a:t>
            </a:r>
            <a:r>
              <a:rPr sz="190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900" b="0" i="0" dirty="0" err="1">
                <a:solidFill>
                  <a:srgbClr val="262626"/>
                </a:solidFill>
                <a:latin typeface="Arial"/>
              </a:rPr>
              <a:t>bằng</a:t>
            </a:r>
            <a:r>
              <a:rPr sz="1900" b="0" i="0" dirty="0">
                <a:solidFill>
                  <a:srgbClr val="262626"/>
                </a:solidFill>
                <a:latin typeface="Arial"/>
              </a:rPr>
              <a:t> JWT; </a:t>
            </a:r>
            <a:r>
              <a:rPr sz="1900" b="0" i="0" dirty="0" err="1">
                <a:solidFill>
                  <a:srgbClr val="262626"/>
                </a:solidFill>
                <a:latin typeface="Arial"/>
              </a:rPr>
              <a:t>hỗ</a:t>
            </a:r>
            <a:r>
              <a:rPr sz="190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900" b="0" i="0" dirty="0" err="1">
                <a:solidFill>
                  <a:srgbClr val="262626"/>
                </a:solidFill>
                <a:latin typeface="Arial"/>
              </a:rPr>
              <a:t>trợ</a:t>
            </a:r>
            <a:r>
              <a:rPr sz="190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900" b="0" i="0" dirty="0" err="1">
                <a:solidFill>
                  <a:srgbClr val="262626"/>
                </a:solidFill>
                <a:latin typeface="Arial"/>
              </a:rPr>
              <a:t>tài</a:t>
            </a:r>
            <a:r>
              <a:rPr sz="190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900" b="0" i="0" dirty="0" err="1">
                <a:solidFill>
                  <a:srgbClr val="262626"/>
                </a:solidFill>
                <a:latin typeface="Arial"/>
              </a:rPr>
              <a:t>khoản</a:t>
            </a:r>
            <a:r>
              <a:rPr sz="190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900" b="0" i="0" dirty="0" err="1">
                <a:solidFill>
                  <a:srgbClr val="262626"/>
                </a:solidFill>
                <a:latin typeface="Arial"/>
              </a:rPr>
              <a:t>thường</a:t>
            </a:r>
            <a:r>
              <a:rPr sz="190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900" b="0" i="0" dirty="0" err="1">
                <a:solidFill>
                  <a:srgbClr val="262626"/>
                </a:solidFill>
                <a:latin typeface="Arial"/>
              </a:rPr>
              <a:t>và</a:t>
            </a:r>
            <a:r>
              <a:rPr sz="190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900" b="0" i="0" dirty="0" err="1">
                <a:solidFill>
                  <a:srgbClr val="262626"/>
                </a:solidFill>
                <a:latin typeface="Arial"/>
              </a:rPr>
              <a:t>đăng</a:t>
            </a:r>
            <a:r>
              <a:rPr sz="190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900" b="0" i="0" dirty="0" err="1">
                <a:solidFill>
                  <a:srgbClr val="262626"/>
                </a:solidFill>
                <a:latin typeface="Arial"/>
              </a:rPr>
              <a:t>nhập</a:t>
            </a:r>
            <a:r>
              <a:rPr sz="1900" b="0" i="0" dirty="0">
                <a:solidFill>
                  <a:srgbClr val="262626"/>
                </a:solidFill>
                <a:latin typeface="Arial"/>
              </a:rPr>
              <a:t> Google.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900" b="1" i="0" dirty="0">
                <a:solidFill>
                  <a:srgbClr val="C4122F"/>
                </a:solidFill>
                <a:latin typeface="Arial"/>
              </a:rPr>
              <a:t>•  </a:t>
            </a:r>
            <a:r>
              <a:rPr sz="1900" b="0" i="0" dirty="0" err="1">
                <a:solidFill>
                  <a:srgbClr val="262626"/>
                </a:solidFill>
                <a:latin typeface="Arial"/>
              </a:rPr>
              <a:t>Mật</a:t>
            </a:r>
            <a:r>
              <a:rPr sz="190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900" b="0" i="0" dirty="0" err="1">
                <a:solidFill>
                  <a:srgbClr val="262626"/>
                </a:solidFill>
                <a:latin typeface="Arial"/>
              </a:rPr>
              <a:t>khẩu</a:t>
            </a:r>
            <a:r>
              <a:rPr sz="190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900" b="0" i="0" dirty="0" err="1">
                <a:solidFill>
                  <a:srgbClr val="262626"/>
                </a:solidFill>
                <a:latin typeface="Arial"/>
              </a:rPr>
              <a:t>băm</a:t>
            </a:r>
            <a:r>
              <a:rPr sz="190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900" b="0" i="0" dirty="0" err="1">
                <a:solidFill>
                  <a:srgbClr val="262626"/>
                </a:solidFill>
                <a:latin typeface="Arial"/>
              </a:rPr>
              <a:t>bằng</a:t>
            </a:r>
            <a:r>
              <a:rPr sz="190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900" b="0" i="0" dirty="0" err="1">
                <a:solidFill>
                  <a:srgbClr val="262626"/>
                </a:solidFill>
                <a:latin typeface="Arial"/>
              </a:rPr>
              <a:t>bcrypt</a:t>
            </a:r>
            <a:r>
              <a:rPr lang="vi-VN" sz="1900" b="0" i="0" dirty="0">
                <a:solidFill>
                  <a:srgbClr val="262626"/>
                </a:solidFill>
                <a:latin typeface="Arial"/>
              </a:rPr>
              <a:t>, không lưu thô</a:t>
            </a:r>
            <a:r>
              <a:rPr lang="en-US" sz="1900" b="0" i="0" dirty="0">
                <a:solidFill>
                  <a:srgbClr val="262626"/>
                </a:solidFill>
                <a:latin typeface="Arial"/>
              </a:rPr>
              <a:t>; </a:t>
            </a:r>
            <a:r>
              <a:rPr lang="en-US" sz="1900" b="0" i="0" dirty="0" err="1">
                <a:solidFill>
                  <a:srgbClr val="262626"/>
                </a:solidFill>
                <a:latin typeface="Arial"/>
              </a:rPr>
              <a:t>quên</a:t>
            </a:r>
            <a:r>
              <a:rPr lang="en-US" sz="190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lang="en-US" sz="1900" b="0" i="0" dirty="0" err="1">
                <a:solidFill>
                  <a:srgbClr val="262626"/>
                </a:solidFill>
                <a:latin typeface="Arial"/>
              </a:rPr>
              <a:t>mật</a:t>
            </a:r>
            <a:r>
              <a:rPr lang="en-US" sz="190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lang="en-US" sz="1900" b="0" i="0" dirty="0" err="1">
                <a:solidFill>
                  <a:srgbClr val="262626"/>
                </a:solidFill>
                <a:latin typeface="Arial"/>
              </a:rPr>
              <a:t>khẩu</a:t>
            </a:r>
            <a:r>
              <a:rPr lang="en-US" sz="1900" b="0" i="0" dirty="0">
                <a:solidFill>
                  <a:srgbClr val="262626"/>
                </a:solidFill>
                <a:latin typeface="Arial"/>
              </a:rPr>
              <a:t> qua OTP 6 </a:t>
            </a:r>
            <a:r>
              <a:rPr lang="en-US" sz="1900" b="0" i="0" dirty="0" err="1">
                <a:solidFill>
                  <a:srgbClr val="262626"/>
                </a:solidFill>
                <a:latin typeface="Arial"/>
              </a:rPr>
              <a:t>số</a:t>
            </a:r>
            <a:r>
              <a:rPr lang="en-US" sz="1900" b="0" i="0" dirty="0">
                <a:solidFill>
                  <a:srgbClr val="262626"/>
                </a:solidFill>
                <a:latin typeface="Arial"/>
              </a:rPr>
              <a:t>.</a:t>
            </a:r>
            <a:endParaRPr lang="vi-VN" sz="1900" b="0" i="0" dirty="0">
              <a:solidFill>
                <a:srgbClr val="262626"/>
              </a:solidFill>
              <a:latin typeface="Arial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lang="vi-VN" sz="1900" b="1" i="0" dirty="0">
                <a:solidFill>
                  <a:srgbClr val="C4122F"/>
                </a:solidFill>
                <a:latin typeface="Arial"/>
              </a:rPr>
              <a:t>•  </a:t>
            </a:r>
            <a:r>
              <a:rPr lang="vi-VN" sz="1900" b="0" i="0" dirty="0">
                <a:solidFill>
                  <a:srgbClr val="262626"/>
                </a:solidFill>
                <a:latin typeface="Arial"/>
              </a:rPr>
              <a:t>3 vai trò: người dùng, nhân viên (staff), quản trị viên (admin).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201400" y="6309360"/>
            <a:ext cx="6858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 b="1">
                <a:solidFill>
                  <a:srgbClr val="C4122F"/>
                </a:solidFill>
                <a:latin typeface="Arial"/>
              </a:rPr>
              <a:t>14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0584"/>
            <a:ext cx="86868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600" b="1" i="0">
                <a:solidFill>
                  <a:srgbClr val="FFFFFF"/>
                </a:solidFill>
                <a:latin typeface="Arial"/>
              </a:rPr>
              <a:t>3. Các chức năng chính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70432"/>
            <a:ext cx="11064240" cy="461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3000" b="1" i="0" dirty="0" err="1">
                <a:solidFill>
                  <a:srgbClr val="C4122F"/>
                </a:solidFill>
                <a:latin typeface="Arial"/>
              </a:rPr>
              <a:t>Đặt</a:t>
            </a:r>
            <a:r>
              <a:rPr sz="3000" b="1" i="0" dirty="0">
                <a:solidFill>
                  <a:srgbClr val="C4122F"/>
                </a:solidFill>
                <a:latin typeface="Arial"/>
              </a:rPr>
              <a:t> </a:t>
            </a:r>
            <a:r>
              <a:rPr sz="3000" b="1" i="0" dirty="0" err="1">
                <a:solidFill>
                  <a:srgbClr val="C4122F"/>
                </a:solidFill>
                <a:latin typeface="Arial"/>
              </a:rPr>
              <a:t>vé</a:t>
            </a:r>
            <a:r>
              <a:rPr sz="3000" b="1" i="0" dirty="0">
                <a:solidFill>
                  <a:srgbClr val="C4122F"/>
                </a:solidFill>
                <a:latin typeface="Arial"/>
              </a:rPr>
              <a:t> &amp; </a:t>
            </a:r>
            <a:r>
              <a:rPr sz="3000" b="1" i="0" dirty="0" err="1">
                <a:solidFill>
                  <a:srgbClr val="C4122F"/>
                </a:solidFill>
                <a:latin typeface="Arial"/>
              </a:rPr>
              <a:t>thanh</a:t>
            </a:r>
            <a:r>
              <a:rPr sz="3000" b="1" i="0" dirty="0">
                <a:solidFill>
                  <a:srgbClr val="C4122F"/>
                </a:solidFill>
                <a:latin typeface="Arial"/>
              </a:rPr>
              <a:t> </a:t>
            </a:r>
            <a:r>
              <a:rPr sz="3000" b="1" i="0" dirty="0" err="1">
                <a:solidFill>
                  <a:srgbClr val="C4122F"/>
                </a:solidFill>
                <a:latin typeface="Arial"/>
              </a:rPr>
              <a:t>toán</a:t>
            </a:r>
            <a:r>
              <a:rPr sz="3000" b="1" i="0" dirty="0">
                <a:solidFill>
                  <a:srgbClr val="C4122F"/>
                </a:solidFill>
                <a:latin typeface="Arial"/>
              </a:rPr>
              <a:t> </a:t>
            </a:r>
            <a:r>
              <a:rPr sz="3000" b="1" i="0" dirty="0" err="1">
                <a:solidFill>
                  <a:srgbClr val="C4122F"/>
                </a:solidFill>
                <a:latin typeface="Arial"/>
              </a:rPr>
              <a:t>PayOS</a:t>
            </a:r>
            <a:r>
              <a:rPr sz="3000" b="1" i="0" dirty="0">
                <a:solidFill>
                  <a:srgbClr val="C4122F"/>
                </a:solidFill>
                <a:latin typeface="Arial"/>
              </a:rPr>
              <a:t> 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7252" y="1632097"/>
            <a:ext cx="6307016" cy="4640421"/>
          </a:xfrm>
          <a:prstGeom prst="rect">
            <a:avLst/>
          </a:prstGeom>
          <a:ln w="9525">
            <a:solidFill>
              <a:srgbClr val="C9C9C9"/>
            </a:solidFill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201400" y="6309360"/>
            <a:ext cx="6858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 b="1">
                <a:solidFill>
                  <a:srgbClr val="C4122F"/>
                </a:solidFill>
                <a:latin typeface="Arial"/>
              </a:rPr>
              <a:t>15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0584"/>
            <a:ext cx="86868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600" b="1" i="0">
                <a:solidFill>
                  <a:srgbClr val="FFFFFF"/>
                </a:solidFill>
                <a:latin typeface="Arial"/>
              </a:rPr>
              <a:t>3. Các chức năng chính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70432"/>
            <a:ext cx="110642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3000" b="1" i="0" dirty="0">
                <a:solidFill>
                  <a:srgbClr val="C4122F"/>
                </a:solidFill>
                <a:latin typeface="Arial"/>
              </a:rPr>
              <a:t>Minh </a:t>
            </a:r>
            <a:r>
              <a:rPr sz="3000" b="1" i="0" dirty="0" err="1">
                <a:solidFill>
                  <a:srgbClr val="C4122F"/>
                </a:solidFill>
                <a:latin typeface="Arial"/>
              </a:rPr>
              <a:t>họa</a:t>
            </a:r>
            <a:r>
              <a:rPr sz="3000" b="1" i="0" dirty="0">
                <a:solidFill>
                  <a:srgbClr val="C4122F"/>
                </a:solidFill>
                <a:latin typeface="Arial"/>
              </a:rPr>
              <a:t> </a:t>
            </a:r>
            <a:r>
              <a:rPr sz="3000" b="1" i="0" dirty="0" err="1">
                <a:solidFill>
                  <a:srgbClr val="C4122F"/>
                </a:solidFill>
                <a:latin typeface="Arial"/>
              </a:rPr>
              <a:t>luồng</a:t>
            </a:r>
            <a:r>
              <a:rPr sz="3000" b="1" i="0" dirty="0">
                <a:solidFill>
                  <a:srgbClr val="C4122F"/>
                </a:solidFill>
                <a:latin typeface="Arial"/>
              </a:rPr>
              <a:t> </a:t>
            </a:r>
            <a:r>
              <a:rPr sz="3000" b="1" i="0" dirty="0" err="1">
                <a:solidFill>
                  <a:srgbClr val="C4122F"/>
                </a:solidFill>
                <a:latin typeface="Arial"/>
              </a:rPr>
              <a:t>đặt</a:t>
            </a:r>
            <a:r>
              <a:rPr sz="3000" b="1" i="0" dirty="0">
                <a:solidFill>
                  <a:srgbClr val="C4122F"/>
                </a:solidFill>
                <a:latin typeface="Arial"/>
              </a:rPr>
              <a:t> </a:t>
            </a:r>
            <a:r>
              <a:rPr sz="3000" b="1" i="0" dirty="0" err="1">
                <a:solidFill>
                  <a:srgbClr val="C4122F"/>
                </a:solidFill>
                <a:latin typeface="Arial"/>
              </a:rPr>
              <a:t>vé</a:t>
            </a:r>
            <a:r>
              <a:rPr sz="3000" b="1" i="0" dirty="0">
                <a:solidFill>
                  <a:srgbClr val="C4122F"/>
                </a:solidFill>
                <a:latin typeface="Arial"/>
              </a:rPr>
              <a:t> </a:t>
            </a:r>
            <a:r>
              <a:rPr sz="3000" b="1" i="0" dirty="0" err="1">
                <a:solidFill>
                  <a:srgbClr val="C4122F"/>
                </a:solidFill>
                <a:latin typeface="Arial"/>
              </a:rPr>
              <a:t>thực</a:t>
            </a:r>
            <a:r>
              <a:rPr sz="3000" b="1" i="0" dirty="0">
                <a:solidFill>
                  <a:srgbClr val="C4122F"/>
                </a:solidFill>
                <a:latin typeface="Arial"/>
              </a:rPr>
              <a:t> </a:t>
            </a:r>
            <a:r>
              <a:rPr sz="3000" b="1" i="0" dirty="0" err="1">
                <a:solidFill>
                  <a:srgbClr val="C4122F"/>
                </a:solidFill>
                <a:latin typeface="Arial"/>
              </a:rPr>
              <a:t>tế</a:t>
            </a:r>
            <a:endParaRPr sz="3000" b="1" i="0" dirty="0">
              <a:solidFill>
                <a:srgbClr val="C4122F"/>
              </a:solidFill>
              <a:latin typeface="Arial"/>
            </a:endParaRP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410854"/>
            <a:ext cx="3657600" cy="2127731"/>
          </a:xfrm>
          <a:prstGeom prst="rect">
            <a:avLst/>
          </a:prstGeom>
          <a:ln w="9525">
            <a:solidFill>
              <a:srgbClr val="C9C9C9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502920" y="4983480"/>
            <a:ext cx="36576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1" i="0">
                <a:solidFill>
                  <a:srgbClr val="8C0B21"/>
                </a:solidFill>
                <a:latin typeface="Arial"/>
              </a:rPr>
              <a:t>1. Chọn vé &amp; ngày đi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7680" y="2423384"/>
            <a:ext cx="3657600" cy="2102671"/>
          </a:xfrm>
          <a:prstGeom prst="rect">
            <a:avLst/>
          </a:prstGeom>
          <a:ln w="9525">
            <a:solidFill>
              <a:srgbClr val="C9C9C9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4297680" y="4983480"/>
            <a:ext cx="36576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1" i="0">
                <a:solidFill>
                  <a:srgbClr val="8C0B21"/>
                </a:solidFill>
                <a:latin typeface="Arial"/>
              </a:rPr>
              <a:t>2. Quét QR thanh toán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2440" y="2329259"/>
            <a:ext cx="3657600" cy="2290921"/>
          </a:xfrm>
          <a:prstGeom prst="rect">
            <a:avLst/>
          </a:prstGeom>
          <a:ln w="9525">
            <a:solidFill>
              <a:srgbClr val="C9C9C9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8092440" y="4983480"/>
            <a:ext cx="36576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1" i="0">
                <a:solidFill>
                  <a:srgbClr val="8C0B21"/>
                </a:solidFill>
                <a:latin typeface="Arial"/>
              </a:rPr>
              <a:t>3. Nhận email vé QR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201400" y="6309360"/>
            <a:ext cx="6858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 b="1">
                <a:solidFill>
                  <a:srgbClr val="C4122F"/>
                </a:solidFill>
                <a:latin typeface="Arial"/>
              </a:rPr>
              <a:t>16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0584"/>
            <a:ext cx="86868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600" b="1" i="0">
                <a:solidFill>
                  <a:srgbClr val="FFFFFF"/>
                </a:solidFill>
                <a:latin typeface="Arial"/>
              </a:rPr>
              <a:t>3. Các chức năng chính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70432"/>
            <a:ext cx="110642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3000" b="1" i="0">
                <a:solidFill>
                  <a:srgbClr val="C4122F"/>
                </a:solidFill>
                <a:latin typeface="Arial"/>
              </a:rPr>
              <a:t>Soát vé QR &amp; Android scanner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03120"/>
            <a:ext cx="6858000" cy="2560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700" b="1" i="0" dirty="0">
                <a:solidFill>
                  <a:srgbClr val="C4122F"/>
                </a:solidFill>
                <a:latin typeface="Arial"/>
              </a:rPr>
              <a:t>•  </a:t>
            </a:r>
            <a:r>
              <a:rPr sz="1700" b="0" i="0" dirty="0" err="1">
                <a:solidFill>
                  <a:srgbClr val="262626"/>
                </a:solidFill>
                <a:latin typeface="Arial"/>
              </a:rPr>
              <a:t>Nhân</a:t>
            </a:r>
            <a:r>
              <a:rPr sz="170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700" b="0" i="0" dirty="0" err="1">
                <a:solidFill>
                  <a:srgbClr val="262626"/>
                </a:solidFill>
                <a:latin typeface="Arial"/>
              </a:rPr>
              <a:t>viên</a:t>
            </a:r>
            <a:r>
              <a:rPr sz="170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700" b="0" i="0" dirty="0" err="1">
                <a:solidFill>
                  <a:srgbClr val="262626"/>
                </a:solidFill>
                <a:latin typeface="Arial"/>
              </a:rPr>
              <a:t>đăng</a:t>
            </a:r>
            <a:r>
              <a:rPr sz="170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700" b="0" i="0" dirty="0" err="1">
                <a:solidFill>
                  <a:srgbClr val="262626"/>
                </a:solidFill>
                <a:latin typeface="Arial"/>
              </a:rPr>
              <a:t>nhập</a:t>
            </a:r>
            <a:r>
              <a:rPr sz="1700" b="0" i="0" dirty="0">
                <a:solidFill>
                  <a:srgbClr val="262626"/>
                </a:solidFill>
                <a:latin typeface="Arial"/>
              </a:rPr>
              <a:t>, </a:t>
            </a:r>
            <a:r>
              <a:rPr sz="1700" b="0" i="0" dirty="0" err="1">
                <a:solidFill>
                  <a:srgbClr val="262626"/>
                </a:solidFill>
                <a:latin typeface="Arial"/>
              </a:rPr>
              <a:t>mở</a:t>
            </a:r>
            <a:r>
              <a:rPr sz="1700" b="0" i="0" dirty="0">
                <a:solidFill>
                  <a:srgbClr val="262626"/>
                </a:solidFill>
                <a:latin typeface="Arial"/>
              </a:rPr>
              <a:t> camera </a:t>
            </a:r>
            <a:r>
              <a:rPr sz="1700" b="0" i="0" dirty="0" err="1">
                <a:solidFill>
                  <a:srgbClr val="262626"/>
                </a:solidFill>
                <a:latin typeface="Arial"/>
              </a:rPr>
              <a:t>quét</a:t>
            </a:r>
            <a:r>
              <a:rPr sz="170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700" b="0" i="0" dirty="0" err="1">
                <a:solidFill>
                  <a:srgbClr val="262626"/>
                </a:solidFill>
                <a:latin typeface="Arial"/>
              </a:rPr>
              <a:t>mã</a:t>
            </a:r>
            <a:r>
              <a:rPr sz="1700" b="0" i="0" dirty="0">
                <a:solidFill>
                  <a:srgbClr val="262626"/>
                </a:solidFill>
                <a:latin typeface="Arial"/>
              </a:rPr>
              <a:t> QR </a:t>
            </a:r>
            <a:r>
              <a:rPr sz="1700" b="0" i="0" dirty="0" err="1">
                <a:solidFill>
                  <a:srgbClr val="262626"/>
                </a:solidFill>
                <a:latin typeface="Arial"/>
              </a:rPr>
              <a:t>trên</a:t>
            </a:r>
            <a:r>
              <a:rPr sz="170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700" b="0" i="0" dirty="0" err="1">
                <a:solidFill>
                  <a:srgbClr val="262626"/>
                </a:solidFill>
                <a:latin typeface="Arial"/>
              </a:rPr>
              <a:t>vé</a:t>
            </a:r>
            <a:r>
              <a:rPr sz="1700" b="0" i="0" dirty="0">
                <a:solidFill>
                  <a:srgbClr val="262626"/>
                </a:solidFill>
                <a:latin typeface="Arial"/>
              </a:rPr>
              <a:t> (</a:t>
            </a:r>
            <a:r>
              <a:rPr sz="1700" b="0" i="0" dirty="0" err="1">
                <a:solidFill>
                  <a:srgbClr val="262626"/>
                </a:solidFill>
                <a:latin typeface="Arial"/>
              </a:rPr>
              <a:t>ZXing</a:t>
            </a:r>
            <a:r>
              <a:rPr sz="1700" b="0" i="0" dirty="0">
                <a:solidFill>
                  <a:srgbClr val="262626"/>
                </a:solidFill>
                <a:latin typeface="Arial"/>
              </a:rPr>
              <a:t>).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700" b="1" i="0" dirty="0">
                <a:solidFill>
                  <a:srgbClr val="C4122F"/>
                </a:solidFill>
                <a:latin typeface="Arial"/>
              </a:rPr>
              <a:t>•  </a:t>
            </a:r>
            <a:r>
              <a:rPr sz="1700" b="0" i="0" dirty="0">
                <a:solidFill>
                  <a:srgbClr val="262626"/>
                </a:solidFill>
                <a:latin typeface="Arial"/>
              </a:rPr>
              <a:t>Quy </a:t>
            </a:r>
            <a:r>
              <a:rPr sz="1700" b="0" i="0" dirty="0" err="1">
                <a:solidFill>
                  <a:srgbClr val="262626"/>
                </a:solidFill>
                <a:latin typeface="Arial"/>
              </a:rPr>
              <a:t>trình</a:t>
            </a:r>
            <a:r>
              <a:rPr sz="1700" b="0" i="0" dirty="0">
                <a:solidFill>
                  <a:srgbClr val="262626"/>
                </a:solidFill>
                <a:latin typeface="Arial"/>
              </a:rPr>
              <a:t> 2 </a:t>
            </a:r>
            <a:r>
              <a:rPr sz="1700" b="0" i="0" dirty="0" err="1">
                <a:solidFill>
                  <a:srgbClr val="262626"/>
                </a:solidFill>
                <a:latin typeface="Arial"/>
              </a:rPr>
              <a:t>bước</a:t>
            </a:r>
            <a:r>
              <a:rPr sz="1700" b="0" i="0" dirty="0">
                <a:solidFill>
                  <a:srgbClr val="262626"/>
                </a:solidFill>
                <a:latin typeface="Arial"/>
              </a:rPr>
              <a:t>: verify (</a:t>
            </a:r>
            <a:r>
              <a:rPr sz="1700" b="0" i="0" dirty="0" err="1">
                <a:solidFill>
                  <a:srgbClr val="262626"/>
                </a:solidFill>
                <a:latin typeface="Arial"/>
              </a:rPr>
              <a:t>xem</a:t>
            </a:r>
            <a:r>
              <a:rPr sz="170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700" b="0" i="0" dirty="0" err="1">
                <a:solidFill>
                  <a:srgbClr val="262626"/>
                </a:solidFill>
                <a:latin typeface="Arial"/>
              </a:rPr>
              <a:t>trạng</a:t>
            </a:r>
            <a:r>
              <a:rPr sz="170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700" b="0" i="0" dirty="0" err="1">
                <a:solidFill>
                  <a:srgbClr val="262626"/>
                </a:solidFill>
                <a:latin typeface="Arial"/>
              </a:rPr>
              <a:t>thái</a:t>
            </a:r>
            <a:r>
              <a:rPr sz="1700" b="0" i="0" dirty="0">
                <a:solidFill>
                  <a:srgbClr val="262626"/>
                </a:solidFill>
                <a:latin typeface="Arial"/>
              </a:rPr>
              <a:t>) → use (</a:t>
            </a:r>
            <a:r>
              <a:rPr sz="1700" b="0" i="0" dirty="0" err="1">
                <a:solidFill>
                  <a:srgbClr val="262626"/>
                </a:solidFill>
                <a:latin typeface="Arial"/>
              </a:rPr>
              <a:t>đánh</a:t>
            </a:r>
            <a:r>
              <a:rPr sz="170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700" b="0" i="0" dirty="0" err="1">
                <a:solidFill>
                  <a:srgbClr val="262626"/>
                </a:solidFill>
                <a:latin typeface="Arial"/>
              </a:rPr>
              <a:t>dấu</a:t>
            </a:r>
            <a:r>
              <a:rPr sz="170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700" b="0" i="0" dirty="0" err="1">
                <a:solidFill>
                  <a:srgbClr val="262626"/>
                </a:solidFill>
                <a:latin typeface="Arial"/>
              </a:rPr>
              <a:t>đã</a:t>
            </a:r>
            <a:r>
              <a:rPr sz="170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700" b="0" i="0" dirty="0" err="1">
                <a:solidFill>
                  <a:srgbClr val="262626"/>
                </a:solidFill>
                <a:latin typeface="Arial"/>
              </a:rPr>
              <a:t>dùng</a:t>
            </a:r>
            <a:r>
              <a:rPr sz="1700" b="0" i="0" dirty="0">
                <a:solidFill>
                  <a:srgbClr val="262626"/>
                </a:solidFill>
                <a:latin typeface="Arial"/>
              </a:rPr>
              <a:t>).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700" b="1" i="0" dirty="0">
                <a:solidFill>
                  <a:srgbClr val="C4122F"/>
                </a:solidFill>
                <a:latin typeface="Arial"/>
              </a:rPr>
              <a:t>•  </a:t>
            </a:r>
            <a:r>
              <a:rPr sz="1700" b="0" i="0" dirty="0" err="1">
                <a:solidFill>
                  <a:srgbClr val="262626"/>
                </a:solidFill>
                <a:latin typeface="Arial"/>
              </a:rPr>
              <a:t>Chống</a:t>
            </a:r>
            <a:r>
              <a:rPr sz="170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700" b="0" i="0" dirty="0" err="1">
                <a:solidFill>
                  <a:srgbClr val="262626"/>
                </a:solidFill>
                <a:latin typeface="Arial"/>
              </a:rPr>
              <a:t>dùng</a:t>
            </a:r>
            <a:r>
              <a:rPr sz="170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700" b="0" i="0" dirty="0" err="1">
                <a:solidFill>
                  <a:srgbClr val="262626"/>
                </a:solidFill>
                <a:latin typeface="Arial"/>
              </a:rPr>
              <a:t>vé</a:t>
            </a:r>
            <a:r>
              <a:rPr sz="1700" b="0" i="0" dirty="0">
                <a:solidFill>
                  <a:srgbClr val="262626"/>
                </a:solidFill>
                <a:latin typeface="Arial"/>
              </a:rPr>
              <a:t> 2 </a:t>
            </a:r>
            <a:r>
              <a:rPr sz="1700" b="0" i="0" dirty="0" err="1">
                <a:solidFill>
                  <a:srgbClr val="262626"/>
                </a:solidFill>
                <a:latin typeface="Arial"/>
              </a:rPr>
              <a:t>lần</a:t>
            </a:r>
            <a:r>
              <a:rPr sz="1700" b="0" i="0" dirty="0">
                <a:solidFill>
                  <a:srgbClr val="262626"/>
                </a:solidFill>
                <a:latin typeface="Arial"/>
              </a:rPr>
              <a:t>: </a:t>
            </a:r>
            <a:r>
              <a:rPr sz="1700" b="0" i="0" dirty="0" err="1">
                <a:solidFill>
                  <a:srgbClr val="262626"/>
                </a:solidFill>
                <a:latin typeface="Arial"/>
              </a:rPr>
              <a:t>vé</a:t>
            </a:r>
            <a:r>
              <a:rPr sz="170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700" b="0" i="0" dirty="0" err="1">
                <a:solidFill>
                  <a:srgbClr val="262626"/>
                </a:solidFill>
                <a:latin typeface="Arial"/>
              </a:rPr>
              <a:t>đã</a:t>
            </a:r>
            <a:r>
              <a:rPr sz="170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700" b="0" i="0" dirty="0" err="1">
                <a:solidFill>
                  <a:srgbClr val="262626"/>
                </a:solidFill>
                <a:latin typeface="Arial"/>
              </a:rPr>
              <a:t>dùng</a:t>
            </a:r>
            <a:r>
              <a:rPr sz="170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700" b="0" i="0" dirty="0" err="1">
                <a:solidFill>
                  <a:srgbClr val="262626"/>
                </a:solidFill>
                <a:latin typeface="Arial"/>
              </a:rPr>
              <a:t>bị</a:t>
            </a:r>
            <a:r>
              <a:rPr sz="170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700" b="0" i="0" dirty="0" err="1">
                <a:solidFill>
                  <a:srgbClr val="262626"/>
                </a:solidFill>
                <a:latin typeface="Arial"/>
              </a:rPr>
              <a:t>từ</a:t>
            </a:r>
            <a:r>
              <a:rPr sz="170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700" b="0" i="0" dirty="0" err="1">
                <a:solidFill>
                  <a:srgbClr val="262626"/>
                </a:solidFill>
                <a:latin typeface="Arial"/>
              </a:rPr>
              <a:t>chối</a:t>
            </a:r>
            <a:r>
              <a:rPr sz="1700" b="0" i="0" dirty="0">
                <a:solidFill>
                  <a:srgbClr val="262626"/>
                </a:solidFill>
                <a:latin typeface="Arial"/>
              </a:rPr>
              <a:t> (HTTP 409).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700" b="1" i="0" dirty="0">
                <a:solidFill>
                  <a:srgbClr val="C4122F"/>
                </a:solidFill>
                <a:latin typeface="Arial"/>
              </a:rPr>
              <a:t>•  </a:t>
            </a:r>
            <a:r>
              <a:rPr sz="1700" b="0" i="0" dirty="0" err="1">
                <a:solidFill>
                  <a:srgbClr val="262626"/>
                </a:solidFill>
                <a:latin typeface="Arial"/>
              </a:rPr>
              <a:t>Chống</a:t>
            </a:r>
            <a:r>
              <a:rPr sz="170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700" b="0" i="0" dirty="0" err="1">
                <a:solidFill>
                  <a:srgbClr val="262626"/>
                </a:solidFill>
                <a:latin typeface="Arial"/>
              </a:rPr>
              <a:t>vé</a:t>
            </a:r>
            <a:r>
              <a:rPr sz="170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700" b="0" i="0" dirty="0" err="1">
                <a:solidFill>
                  <a:srgbClr val="262626"/>
                </a:solidFill>
                <a:latin typeface="Arial"/>
              </a:rPr>
              <a:t>sai</a:t>
            </a:r>
            <a:r>
              <a:rPr sz="170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700" b="0" i="0" dirty="0" err="1">
                <a:solidFill>
                  <a:srgbClr val="262626"/>
                </a:solidFill>
                <a:latin typeface="Arial"/>
              </a:rPr>
              <a:t>ngày</a:t>
            </a:r>
            <a:r>
              <a:rPr sz="1700" b="0" i="0" dirty="0">
                <a:solidFill>
                  <a:srgbClr val="262626"/>
                </a:solidFill>
                <a:latin typeface="Arial"/>
              </a:rPr>
              <a:t>: </a:t>
            </a:r>
            <a:r>
              <a:rPr sz="1700" b="0" i="0" dirty="0" err="1">
                <a:solidFill>
                  <a:srgbClr val="262626"/>
                </a:solidFill>
                <a:latin typeface="Arial"/>
              </a:rPr>
              <a:t>ngày</a:t>
            </a:r>
            <a:r>
              <a:rPr sz="170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700" b="0" i="0" dirty="0" err="1">
                <a:solidFill>
                  <a:srgbClr val="262626"/>
                </a:solidFill>
                <a:latin typeface="Arial"/>
              </a:rPr>
              <a:t>đi</a:t>
            </a:r>
            <a:r>
              <a:rPr sz="170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700" b="0" i="0" dirty="0" err="1">
                <a:solidFill>
                  <a:srgbClr val="262626"/>
                </a:solidFill>
                <a:latin typeface="Arial"/>
              </a:rPr>
              <a:t>đã</a:t>
            </a:r>
            <a:r>
              <a:rPr sz="1700" b="0" i="0" dirty="0">
                <a:solidFill>
                  <a:srgbClr val="262626"/>
                </a:solidFill>
                <a:latin typeface="Arial"/>
              </a:rPr>
              <a:t> qua → </a:t>
            </a:r>
            <a:r>
              <a:rPr sz="1700" b="0" i="0" dirty="0" err="1">
                <a:solidFill>
                  <a:srgbClr val="262626"/>
                </a:solidFill>
                <a:latin typeface="Arial"/>
              </a:rPr>
              <a:t>tự</a:t>
            </a:r>
            <a:r>
              <a:rPr sz="170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700" b="0" i="0" dirty="0" err="1">
                <a:solidFill>
                  <a:srgbClr val="262626"/>
                </a:solidFill>
                <a:latin typeface="Arial"/>
              </a:rPr>
              <a:t>đánh</a:t>
            </a:r>
            <a:r>
              <a:rPr sz="170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700" b="0" i="0" dirty="0" err="1">
                <a:solidFill>
                  <a:srgbClr val="262626"/>
                </a:solidFill>
                <a:latin typeface="Arial"/>
              </a:rPr>
              <a:t>dấu</a:t>
            </a:r>
            <a:r>
              <a:rPr sz="170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700" b="0" i="0" dirty="0" err="1">
                <a:solidFill>
                  <a:srgbClr val="262626"/>
                </a:solidFill>
                <a:latin typeface="Arial"/>
              </a:rPr>
              <a:t>hết</a:t>
            </a:r>
            <a:r>
              <a:rPr sz="170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700" b="0" i="0" dirty="0" err="1">
                <a:solidFill>
                  <a:srgbClr val="262626"/>
                </a:solidFill>
                <a:latin typeface="Arial"/>
              </a:rPr>
              <a:t>hạn</a:t>
            </a:r>
            <a:r>
              <a:rPr sz="1700" b="0" i="0" dirty="0">
                <a:solidFill>
                  <a:srgbClr val="262626"/>
                </a:solidFill>
                <a:latin typeface="Arial"/>
              </a:rPr>
              <a:t>.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07390" y="1518138"/>
            <a:ext cx="2026980" cy="4453596"/>
          </a:xfrm>
          <a:prstGeom prst="rect">
            <a:avLst/>
          </a:prstGeom>
          <a:ln w="9525">
            <a:solidFill>
              <a:srgbClr val="C9C9C9"/>
            </a:solidFill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201400" y="6309360"/>
            <a:ext cx="6858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 b="1">
                <a:solidFill>
                  <a:srgbClr val="C4122F"/>
                </a:solidFill>
                <a:latin typeface="Arial"/>
              </a:rPr>
              <a:t>17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0584"/>
            <a:ext cx="86868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600" b="1" i="0">
                <a:solidFill>
                  <a:srgbClr val="FFFFFF"/>
                </a:solidFill>
                <a:latin typeface="Arial"/>
              </a:rPr>
              <a:t>3. Các chức năng chính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70432"/>
            <a:ext cx="110642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3000" b="1" i="0">
                <a:solidFill>
                  <a:srgbClr val="C4122F"/>
                </a:solidFill>
                <a:latin typeface="Arial"/>
              </a:rPr>
              <a:t>Gợi ý địa điểm gần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057400"/>
            <a:ext cx="5394960" cy="18342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700" b="1" i="0" dirty="0">
                <a:solidFill>
                  <a:srgbClr val="C4122F"/>
                </a:solidFill>
                <a:latin typeface="Arial"/>
              </a:rPr>
              <a:t>•  </a:t>
            </a:r>
            <a:r>
              <a:rPr sz="1700" b="0" i="0" dirty="0" err="1">
                <a:solidFill>
                  <a:srgbClr val="262626"/>
                </a:solidFill>
                <a:latin typeface="Arial"/>
              </a:rPr>
              <a:t>Lấy</a:t>
            </a:r>
            <a:r>
              <a:rPr sz="170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700" b="0" i="0" dirty="0" err="1">
                <a:solidFill>
                  <a:srgbClr val="262626"/>
                </a:solidFill>
                <a:latin typeface="Arial"/>
              </a:rPr>
              <a:t>vị</a:t>
            </a:r>
            <a:r>
              <a:rPr sz="170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700" b="0" i="0" dirty="0" err="1">
                <a:solidFill>
                  <a:srgbClr val="262626"/>
                </a:solidFill>
                <a:latin typeface="Arial"/>
              </a:rPr>
              <a:t>trí</a:t>
            </a:r>
            <a:r>
              <a:rPr sz="1700" b="0" i="0" dirty="0">
                <a:solidFill>
                  <a:srgbClr val="262626"/>
                </a:solidFill>
                <a:latin typeface="Arial"/>
              </a:rPr>
              <a:t> GPS </a:t>
            </a:r>
            <a:r>
              <a:rPr sz="1700" b="0" i="0" dirty="0" err="1">
                <a:solidFill>
                  <a:srgbClr val="262626"/>
                </a:solidFill>
                <a:latin typeface="Arial"/>
              </a:rPr>
              <a:t>người</a:t>
            </a:r>
            <a:r>
              <a:rPr sz="170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700" b="0" i="0" dirty="0" err="1">
                <a:solidFill>
                  <a:srgbClr val="262626"/>
                </a:solidFill>
                <a:latin typeface="Arial"/>
              </a:rPr>
              <a:t>dùng</a:t>
            </a:r>
            <a:r>
              <a:rPr sz="1700" b="0" i="0" dirty="0">
                <a:solidFill>
                  <a:srgbClr val="262626"/>
                </a:solidFill>
                <a:latin typeface="Arial"/>
              </a:rPr>
              <a:t>, </a:t>
            </a:r>
            <a:r>
              <a:rPr sz="1700" b="0" i="0" dirty="0" err="1">
                <a:solidFill>
                  <a:srgbClr val="262626"/>
                </a:solidFill>
                <a:latin typeface="Arial"/>
              </a:rPr>
              <a:t>tính</a:t>
            </a:r>
            <a:r>
              <a:rPr sz="170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700" b="0" i="0" dirty="0" err="1">
                <a:solidFill>
                  <a:srgbClr val="262626"/>
                </a:solidFill>
                <a:latin typeface="Arial"/>
              </a:rPr>
              <a:t>khoảng</a:t>
            </a:r>
            <a:r>
              <a:rPr sz="170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700" b="0" i="0" dirty="0" err="1">
                <a:solidFill>
                  <a:srgbClr val="262626"/>
                </a:solidFill>
                <a:latin typeface="Arial"/>
              </a:rPr>
              <a:t>cách</a:t>
            </a:r>
            <a:r>
              <a:rPr sz="170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700" b="0" i="0" dirty="0" err="1">
                <a:solidFill>
                  <a:srgbClr val="262626"/>
                </a:solidFill>
                <a:latin typeface="Arial"/>
              </a:rPr>
              <a:t>tới</a:t>
            </a:r>
            <a:r>
              <a:rPr sz="170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700" b="0" i="0" dirty="0" err="1">
                <a:solidFill>
                  <a:srgbClr val="262626"/>
                </a:solidFill>
                <a:latin typeface="Arial"/>
              </a:rPr>
              <a:t>từng</a:t>
            </a:r>
            <a:r>
              <a:rPr sz="170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700" b="0" i="0" dirty="0" err="1">
                <a:solidFill>
                  <a:srgbClr val="262626"/>
                </a:solidFill>
                <a:latin typeface="Arial"/>
              </a:rPr>
              <a:t>địa</a:t>
            </a:r>
            <a:r>
              <a:rPr sz="170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700" b="0" i="0" dirty="0" err="1">
                <a:solidFill>
                  <a:srgbClr val="262626"/>
                </a:solidFill>
                <a:latin typeface="Arial"/>
              </a:rPr>
              <a:t>điểm</a:t>
            </a:r>
            <a:r>
              <a:rPr sz="1700" b="0" i="0" dirty="0">
                <a:solidFill>
                  <a:srgbClr val="262626"/>
                </a:solidFill>
                <a:latin typeface="Arial"/>
              </a:rPr>
              <a:t>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700" b="1" i="0" dirty="0">
                <a:solidFill>
                  <a:srgbClr val="C4122F"/>
                </a:solidFill>
                <a:latin typeface="Arial"/>
              </a:rPr>
              <a:t>•  </a:t>
            </a:r>
            <a:r>
              <a:rPr sz="1700" b="0" i="0" dirty="0" err="1">
                <a:solidFill>
                  <a:srgbClr val="262626"/>
                </a:solidFill>
                <a:latin typeface="Arial"/>
              </a:rPr>
              <a:t>Dùng</a:t>
            </a:r>
            <a:r>
              <a:rPr sz="170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700" b="0" i="0" dirty="0" err="1">
                <a:solidFill>
                  <a:srgbClr val="262626"/>
                </a:solidFill>
                <a:latin typeface="Arial"/>
              </a:rPr>
              <a:t>công</a:t>
            </a:r>
            <a:r>
              <a:rPr sz="170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700" b="0" i="0" dirty="0" err="1">
                <a:solidFill>
                  <a:srgbClr val="262626"/>
                </a:solidFill>
                <a:latin typeface="Arial"/>
              </a:rPr>
              <a:t>thức</a:t>
            </a:r>
            <a:r>
              <a:rPr sz="1700" b="0" i="0" dirty="0">
                <a:solidFill>
                  <a:srgbClr val="262626"/>
                </a:solidFill>
                <a:latin typeface="Arial"/>
              </a:rPr>
              <a:t> Haversine — </a:t>
            </a:r>
            <a:r>
              <a:rPr sz="1700" b="0" i="0" dirty="0" err="1">
                <a:solidFill>
                  <a:srgbClr val="262626"/>
                </a:solidFill>
                <a:latin typeface="Arial"/>
              </a:rPr>
              <a:t>khoảng</a:t>
            </a:r>
            <a:r>
              <a:rPr sz="170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700" b="0" i="0" dirty="0" err="1">
                <a:solidFill>
                  <a:srgbClr val="262626"/>
                </a:solidFill>
                <a:latin typeface="Arial"/>
              </a:rPr>
              <a:t>cách</a:t>
            </a:r>
            <a:r>
              <a:rPr sz="170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700" b="0" i="0" dirty="0" err="1">
                <a:solidFill>
                  <a:srgbClr val="262626"/>
                </a:solidFill>
                <a:latin typeface="Arial"/>
              </a:rPr>
              <a:t>trên</a:t>
            </a:r>
            <a:r>
              <a:rPr sz="170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700" b="0" i="0" dirty="0" err="1">
                <a:solidFill>
                  <a:srgbClr val="262626"/>
                </a:solidFill>
                <a:latin typeface="Arial"/>
              </a:rPr>
              <a:t>mặt</a:t>
            </a:r>
            <a:r>
              <a:rPr sz="170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700" b="0" i="0" dirty="0" err="1">
                <a:solidFill>
                  <a:srgbClr val="262626"/>
                </a:solidFill>
                <a:latin typeface="Arial"/>
              </a:rPr>
              <a:t>cầu</a:t>
            </a:r>
            <a:r>
              <a:rPr sz="170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700" b="0" i="0" dirty="0" err="1">
                <a:solidFill>
                  <a:srgbClr val="262626"/>
                </a:solidFill>
                <a:latin typeface="Arial"/>
              </a:rPr>
              <a:t>Trái</a:t>
            </a:r>
            <a:r>
              <a:rPr sz="170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700" b="0" i="0" dirty="0" err="1">
                <a:solidFill>
                  <a:srgbClr val="262626"/>
                </a:solidFill>
                <a:latin typeface="Arial"/>
              </a:rPr>
              <a:t>Đất</a:t>
            </a:r>
            <a:r>
              <a:rPr sz="1700" b="0" i="0" dirty="0">
                <a:solidFill>
                  <a:srgbClr val="262626"/>
                </a:solidFill>
                <a:latin typeface="Arial"/>
              </a:rPr>
              <a:t>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700" b="1" i="0" dirty="0">
                <a:solidFill>
                  <a:srgbClr val="C4122F"/>
                </a:solidFill>
                <a:latin typeface="Arial"/>
              </a:rPr>
              <a:t>•  </a:t>
            </a:r>
            <a:r>
              <a:rPr sz="1700" b="0" i="0" dirty="0" err="1">
                <a:solidFill>
                  <a:srgbClr val="262626"/>
                </a:solidFill>
                <a:latin typeface="Arial"/>
              </a:rPr>
              <a:t>Lọc</a:t>
            </a:r>
            <a:r>
              <a:rPr sz="170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700" b="0" i="0" dirty="0" err="1">
                <a:solidFill>
                  <a:srgbClr val="262626"/>
                </a:solidFill>
                <a:latin typeface="Arial"/>
              </a:rPr>
              <a:t>bán</a:t>
            </a:r>
            <a:r>
              <a:rPr sz="170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700" b="0" i="0" dirty="0" err="1">
                <a:solidFill>
                  <a:srgbClr val="262626"/>
                </a:solidFill>
                <a:latin typeface="Arial"/>
              </a:rPr>
              <a:t>kính</a:t>
            </a:r>
            <a:r>
              <a:rPr sz="1700" b="0" i="0" dirty="0">
                <a:solidFill>
                  <a:srgbClr val="262626"/>
                </a:solidFill>
                <a:latin typeface="Arial"/>
              </a:rPr>
              <a:t> 10 km → </a:t>
            </a:r>
            <a:r>
              <a:rPr sz="1700" b="0" i="0" dirty="0" err="1">
                <a:solidFill>
                  <a:srgbClr val="262626"/>
                </a:solidFill>
                <a:latin typeface="Arial"/>
              </a:rPr>
              <a:t>sắp</a:t>
            </a:r>
            <a:r>
              <a:rPr sz="170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700" b="0" i="0" dirty="0" err="1">
                <a:solidFill>
                  <a:srgbClr val="262626"/>
                </a:solidFill>
                <a:latin typeface="Arial"/>
              </a:rPr>
              <a:t>xếp</a:t>
            </a:r>
            <a:r>
              <a:rPr sz="170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700" b="0" i="0" dirty="0" err="1">
                <a:solidFill>
                  <a:srgbClr val="262626"/>
                </a:solidFill>
                <a:latin typeface="Arial"/>
              </a:rPr>
              <a:t>gần</a:t>
            </a:r>
            <a:r>
              <a:rPr sz="170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700" b="0" i="0" dirty="0" err="1">
                <a:solidFill>
                  <a:srgbClr val="262626"/>
                </a:solidFill>
                <a:latin typeface="Arial"/>
              </a:rPr>
              <a:t>đến</a:t>
            </a:r>
            <a:r>
              <a:rPr sz="1700" b="0" i="0" dirty="0">
                <a:solidFill>
                  <a:srgbClr val="262626"/>
                </a:solidFill>
                <a:latin typeface="Arial"/>
              </a:rPr>
              <a:t> xa → </a:t>
            </a:r>
            <a:r>
              <a:rPr sz="1700" b="0" i="0" dirty="0" err="1">
                <a:solidFill>
                  <a:srgbClr val="262626"/>
                </a:solidFill>
                <a:latin typeface="Arial"/>
              </a:rPr>
              <a:t>lọc</a:t>
            </a:r>
            <a:r>
              <a:rPr sz="170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700" b="0" i="0" dirty="0" err="1">
                <a:solidFill>
                  <a:srgbClr val="262626"/>
                </a:solidFill>
                <a:latin typeface="Arial"/>
              </a:rPr>
              <a:t>theo</a:t>
            </a:r>
            <a:r>
              <a:rPr sz="170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700" b="0" i="0" dirty="0" err="1">
                <a:solidFill>
                  <a:srgbClr val="262626"/>
                </a:solidFill>
                <a:latin typeface="Arial"/>
              </a:rPr>
              <a:t>danh</a:t>
            </a:r>
            <a:r>
              <a:rPr sz="170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700" b="0" i="0" dirty="0" err="1">
                <a:solidFill>
                  <a:srgbClr val="262626"/>
                </a:solidFill>
                <a:latin typeface="Arial"/>
              </a:rPr>
              <a:t>mục</a:t>
            </a:r>
            <a:r>
              <a:rPr sz="1700" b="0" i="0" dirty="0">
                <a:solidFill>
                  <a:srgbClr val="262626"/>
                </a:solidFill>
                <a:latin typeface="Arial"/>
              </a:rPr>
              <a:t>.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1901952"/>
            <a:ext cx="6007010" cy="3479039"/>
          </a:xfrm>
          <a:prstGeom prst="rect">
            <a:avLst/>
          </a:prstGeom>
          <a:ln w="9525">
            <a:solidFill>
              <a:srgbClr val="C9C9C9"/>
            </a:solidFill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201400" y="6309360"/>
            <a:ext cx="6858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 b="1">
                <a:solidFill>
                  <a:srgbClr val="C4122F"/>
                </a:solidFill>
                <a:latin typeface="Arial"/>
              </a:rPr>
              <a:t>18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0584"/>
            <a:ext cx="86868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600" b="1" i="0">
                <a:solidFill>
                  <a:srgbClr val="FFFFFF"/>
                </a:solidFill>
                <a:latin typeface="Arial"/>
              </a:rPr>
              <a:t>3. Các chức năng chính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70432"/>
            <a:ext cx="110642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3000" b="1" i="0">
                <a:solidFill>
                  <a:srgbClr val="C4122F"/>
                </a:solidFill>
                <a:latin typeface="Arial"/>
              </a:rPr>
              <a:t>Chatbot hỏi đáp (RAG + Gemini)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057400"/>
            <a:ext cx="5394960" cy="12849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700" b="1" i="0" dirty="0">
                <a:solidFill>
                  <a:srgbClr val="C4122F"/>
                </a:solidFill>
                <a:latin typeface="Arial"/>
              </a:rPr>
              <a:t>•  </a:t>
            </a:r>
            <a:r>
              <a:rPr sz="1700" b="0" i="0" dirty="0">
                <a:solidFill>
                  <a:srgbClr val="262626"/>
                </a:solidFill>
                <a:latin typeface="Arial"/>
              </a:rPr>
              <a:t>RAG: </a:t>
            </a:r>
            <a:r>
              <a:rPr sz="1700" b="0" i="0" dirty="0" err="1">
                <a:solidFill>
                  <a:srgbClr val="262626"/>
                </a:solidFill>
                <a:latin typeface="Arial"/>
              </a:rPr>
              <a:t>tìm</a:t>
            </a:r>
            <a:r>
              <a:rPr sz="170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700" b="0" i="0" dirty="0" err="1">
                <a:solidFill>
                  <a:srgbClr val="262626"/>
                </a:solidFill>
                <a:latin typeface="Arial"/>
              </a:rPr>
              <a:t>dữ</a:t>
            </a:r>
            <a:r>
              <a:rPr sz="170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700" b="0" i="0" dirty="0" err="1">
                <a:solidFill>
                  <a:srgbClr val="262626"/>
                </a:solidFill>
                <a:latin typeface="Arial"/>
              </a:rPr>
              <a:t>liệu</a:t>
            </a:r>
            <a:r>
              <a:rPr sz="170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700" b="0" i="0" dirty="0" err="1">
                <a:solidFill>
                  <a:srgbClr val="262626"/>
                </a:solidFill>
                <a:latin typeface="Arial"/>
              </a:rPr>
              <a:t>thật</a:t>
            </a:r>
            <a:r>
              <a:rPr sz="170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700" b="0" i="0" dirty="0" err="1">
                <a:solidFill>
                  <a:srgbClr val="262626"/>
                </a:solidFill>
                <a:latin typeface="Arial"/>
              </a:rPr>
              <a:t>trong</a:t>
            </a:r>
            <a:r>
              <a:rPr sz="1700" b="0" i="0" dirty="0">
                <a:solidFill>
                  <a:srgbClr val="262626"/>
                </a:solidFill>
                <a:latin typeface="Arial"/>
              </a:rPr>
              <a:t> MongoDB </a:t>
            </a:r>
            <a:r>
              <a:rPr sz="1700" b="0" i="0" dirty="0" err="1">
                <a:solidFill>
                  <a:srgbClr val="262626"/>
                </a:solidFill>
                <a:latin typeface="Arial"/>
              </a:rPr>
              <a:t>rồi</a:t>
            </a:r>
            <a:r>
              <a:rPr sz="170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700" b="0" i="0" dirty="0" err="1">
                <a:solidFill>
                  <a:srgbClr val="262626"/>
                </a:solidFill>
                <a:latin typeface="Arial"/>
              </a:rPr>
              <a:t>mới</a:t>
            </a:r>
            <a:r>
              <a:rPr sz="170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700" b="0" i="0" dirty="0" err="1">
                <a:solidFill>
                  <a:srgbClr val="262626"/>
                </a:solidFill>
                <a:latin typeface="Arial"/>
              </a:rPr>
              <a:t>trả</a:t>
            </a:r>
            <a:r>
              <a:rPr sz="170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700" b="0" i="0" dirty="0" err="1">
                <a:solidFill>
                  <a:srgbClr val="262626"/>
                </a:solidFill>
                <a:latin typeface="Arial"/>
              </a:rPr>
              <a:t>lời</a:t>
            </a:r>
            <a:r>
              <a:rPr sz="1700" b="0" i="0" dirty="0">
                <a:solidFill>
                  <a:srgbClr val="262626"/>
                </a:solidFill>
                <a:latin typeface="Arial"/>
              </a:rPr>
              <a:t> </a:t>
            </a:r>
            <a:endParaRPr lang="en-US" sz="1700" b="0" i="0" dirty="0">
              <a:solidFill>
                <a:srgbClr val="262626"/>
              </a:solidFill>
              <a:latin typeface="Arial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700" b="1" i="0" dirty="0">
                <a:solidFill>
                  <a:srgbClr val="C4122F"/>
                </a:solidFill>
                <a:latin typeface="Arial"/>
              </a:rPr>
              <a:t>•  </a:t>
            </a:r>
            <a:r>
              <a:rPr sz="1700" b="0" i="0" dirty="0" err="1">
                <a:solidFill>
                  <a:srgbClr val="262626"/>
                </a:solidFill>
                <a:latin typeface="Arial"/>
              </a:rPr>
              <a:t>Chấm</a:t>
            </a:r>
            <a:r>
              <a:rPr sz="170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700" b="0" i="0" dirty="0" err="1">
                <a:solidFill>
                  <a:srgbClr val="262626"/>
                </a:solidFill>
                <a:latin typeface="Arial"/>
              </a:rPr>
              <a:t>điểm</a:t>
            </a:r>
            <a:r>
              <a:rPr sz="170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700" b="0" i="0" dirty="0" err="1">
                <a:solidFill>
                  <a:srgbClr val="262626"/>
                </a:solidFill>
                <a:latin typeface="Arial"/>
              </a:rPr>
              <a:t>liên</a:t>
            </a:r>
            <a:r>
              <a:rPr sz="170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700" b="0" i="0" dirty="0" err="1">
                <a:solidFill>
                  <a:srgbClr val="262626"/>
                </a:solidFill>
                <a:latin typeface="Arial"/>
              </a:rPr>
              <a:t>quan</a:t>
            </a:r>
            <a:r>
              <a:rPr sz="1700" b="0" i="0" dirty="0">
                <a:solidFill>
                  <a:srgbClr val="262626"/>
                </a:solidFill>
                <a:latin typeface="Arial"/>
              </a:rPr>
              <a:t> (</a:t>
            </a:r>
            <a:r>
              <a:rPr sz="1700" b="0" i="0" dirty="0" err="1">
                <a:solidFill>
                  <a:srgbClr val="262626"/>
                </a:solidFill>
                <a:latin typeface="Arial"/>
              </a:rPr>
              <a:t>tên</a:t>
            </a:r>
            <a:r>
              <a:rPr sz="1700" b="0" i="0" dirty="0">
                <a:solidFill>
                  <a:srgbClr val="262626"/>
                </a:solidFill>
                <a:latin typeface="Arial"/>
              </a:rPr>
              <a:t>, tag, </a:t>
            </a:r>
            <a:r>
              <a:rPr sz="1700" b="0" i="0" dirty="0" err="1">
                <a:solidFill>
                  <a:srgbClr val="262626"/>
                </a:solidFill>
                <a:latin typeface="Arial"/>
              </a:rPr>
              <a:t>từ</a:t>
            </a:r>
            <a:r>
              <a:rPr sz="170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700" b="0" i="0" dirty="0" err="1">
                <a:solidFill>
                  <a:srgbClr val="262626"/>
                </a:solidFill>
                <a:latin typeface="Arial"/>
              </a:rPr>
              <a:t>khóa</a:t>
            </a:r>
            <a:r>
              <a:rPr sz="1700" b="0" i="0" dirty="0">
                <a:solidFill>
                  <a:srgbClr val="262626"/>
                </a:solidFill>
                <a:latin typeface="Arial"/>
              </a:rPr>
              <a:t>, rating, </a:t>
            </a:r>
            <a:r>
              <a:rPr sz="1700" b="0" i="0" dirty="0" err="1">
                <a:solidFill>
                  <a:srgbClr val="262626"/>
                </a:solidFill>
                <a:latin typeface="Arial"/>
              </a:rPr>
              <a:t>khoảng</a:t>
            </a:r>
            <a:r>
              <a:rPr sz="170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700" b="0" i="0" dirty="0" err="1">
                <a:solidFill>
                  <a:srgbClr val="262626"/>
                </a:solidFill>
                <a:latin typeface="Arial"/>
              </a:rPr>
              <a:t>cách</a:t>
            </a:r>
            <a:r>
              <a:rPr sz="1700" b="0" i="0" dirty="0">
                <a:solidFill>
                  <a:srgbClr val="262626"/>
                </a:solidFill>
                <a:latin typeface="Arial"/>
              </a:rPr>
              <a:t>) → top-K.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700" b="1" i="0" dirty="0">
                <a:solidFill>
                  <a:srgbClr val="C4122F"/>
                </a:solidFill>
                <a:latin typeface="Arial"/>
              </a:rPr>
              <a:t>•  </a:t>
            </a:r>
            <a:r>
              <a:rPr sz="1700" b="0" i="0" dirty="0" err="1">
                <a:solidFill>
                  <a:srgbClr val="262626"/>
                </a:solidFill>
                <a:latin typeface="Arial"/>
              </a:rPr>
              <a:t>Không</a:t>
            </a:r>
            <a:r>
              <a:rPr sz="170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700" b="0" i="0" dirty="0" err="1">
                <a:solidFill>
                  <a:srgbClr val="262626"/>
                </a:solidFill>
                <a:latin typeface="Arial"/>
              </a:rPr>
              <a:t>liên</a:t>
            </a:r>
            <a:r>
              <a:rPr sz="170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700" b="0" i="0" dirty="0" err="1">
                <a:solidFill>
                  <a:srgbClr val="262626"/>
                </a:solidFill>
                <a:latin typeface="Arial"/>
              </a:rPr>
              <a:t>quan</a:t>
            </a:r>
            <a:r>
              <a:rPr sz="1700" b="0" i="0" dirty="0">
                <a:solidFill>
                  <a:srgbClr val="262626"/>
                </a:solidFill>
                <a:latin typeface="Arial"/>
              </a:rPr>
              <a:t> → </a:t>
            </a:r>
            <a:r>
              <a:rPr sz="1700" b="0" i="0" dirty="0" err="1">
                <a:solidFill>
                  <a:srgbClr val="262626"/>
                </a:solidFill>
                <a:latin typeface="Arial"/>
              </a:rPr>
              <a:t>trả</a:t>
            </a:r>
            <a:r>
              <a:rPr sz="1700" b="0" i="0" dirty="0">
                <a:solidFill>
                  <a:srgbClr val="262626"/>
                </a:solidFill>
                <a:latin typeface="Arial"/>
              </a:rPr>
              <a:t> "</a:t>
            </a:r>
            <a:r>
              <a:rPr sz="1700" b="0" i="0" dirty="0" err="1">
                <a:solidFill>
                  <a:srgbClr val="262626"/>
                </a:solidFill>
                <a:latin typeface="Arial"/>
              </a:rPr>
              <a:t>Không</a:t>
            </a:r>
            <a:r>
              <a:rPr sz="170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700" b="0" i="0" dirty="0" err="1">
                <a:solidFill>
                  <a:srgbClr val="262626"/>
                </a:solidFill>
                <a:latin typeface="Arial"/>
              </a:rPr>
              <a:t>có</a:t>
            </a:r>
            <a:r>
              <a:rPr sz="170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700" b="0" i="0" dirty="0" err="1">
                <a:solidFill>
                  <a:srgbClr val="262626"/>
                </a:solidFill>
                <a:latin typeface="Arial"/>
              </a:rPr>
              <a:t>dữ</a:t>
            </a:r>
            <a:r>
              <a:rPr sz="170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700" b="0" i="0" dirty="0" err="1">
                <a:solidFill>
                  <a:srgbClr val="262626"/>
                </a:solidFill>
                <a:latin typeface="Arial"/>
              </a:rPr>
              <a:t>liệu</a:t>
            </a:r>
            <a:r>
              <a:rPr sz="1700" b="0" i="0" dirty="0">
                <a:solidFill>
                  <a:srgbClr val="262626"/>
                </a:solidFill>
                <a:latin typeface="Arial"/>
              </a:rPr>
              <a:t>"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67740" y="1901952"/>
            <a:ext cx="6030829" cy="3481410"/>
          </a:xfrm>
          <a:prstGeom prst="rect">
            <a:avLst/>
          </a:prstGeom>
          <a:ln w="9525">
            <a:solidFill>
              <a:srgbClr val="C9C9C9"/>
            </a:solidFill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828800" y="2560320"/>
            <a:ext cx="8503920" cy="1828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Arial"/>
              </a:rPr>
              <a:t>04</a:t>
            </a:r>
          </a:p>
          <a:p>
            <a:pPr algn="ctr">
              <a:spcBef>
                <a:spcPts val="800"/>
              </a:spcBef>
            </a:pPr>
            <a:r>
              <a:rPr sz="3400" b="1" i="0">
                <a:solidFill>
                  <a:srgbClr val="FFFFFF"/>
                </a:solidFill>
                <a:latin typeface="Arial"/>
              </a:rPr>
              <a:t>KẾT QUẢ &amp; KIỂM THỬ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201400" y="6309360"/>
            <a:ext cx="6858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 b="1">
                <a:solidFill>
                  <a:srgbClr val="C4122F"/>
                </a:solidFill>
                <a:latin typeface="Arial"/>
              </a:rPr>
              <a:t>20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0584"/>
            <a:ext cx="86868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600" b="1" i="0">
                <a:solidFill>
                  <a:srgbClr val="FFFFFF"/>
                </a:solidFill>
                <a:latin typeface="Arial"/>
              </a:rPr>
              <a:t>4. Kết quả &amp; kiểm thử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70432"/>
            <a:ext cx="110642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3000" b="1" i="0">
                <a:solidFill>
                  <a:srgbClr val="C4122F"/>
                </a:solidFill>
                <a:latin typeface="Arial"/>
              </a:rPr>
              <a:t>Kết quả đạt được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1040" y="2057400"/>
            <a:ext cx="5394960" cy="4023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700" b="1" i="0" dirty="0">
                <a:solidFill>
                  <a:srgbClr val="C4122F"/>
                </a:solidFill>
                <a:latin typeface="Arial"/>
              </a:rPr>
              <a:t>•  </a:t>
            </a:r>
            <a:r>
              <a:rPr sz="1700" b="0" i="0" dirty="0">
                <a:solidFill>
                  <a:srgbClr val="262626"/>
                </a:solidFill>
                <a:latin typeface="Arial"/>
              </a:rPr>
              <a:t>Hoàn </a:t>
            </a:r>
            <a:r>
              <a:rPr sz="1700" b="0" i="0" dirty="0" err="1">
                <a:solidFill>
                  <a:srgbClr val="262626"/>
                </a:solidFill>
                <a:latin typeface="Arial"/>
              </a:rPr>
              <a:t>thiện</a:t>
            </a:r>
            <a:r>
              <a:rPr sz="1700" b="0" i="0" dirty="0">
                <a:solidFill>
                  <a:srgbClr val="262626"/>
                </a:solidFill>
                <a:latin typeface="Arial"/>
              </a:rPr>
              <a:t>: web </a:t>
            </a:r>
            <a:r>
              <a:rPr sz="1700" b="0" i="0" dirty="0" err="1">
                <a:solidFill>
                  <a:srgbClr val="262626"/>
                </a:solidFill>
                <a:latin typeface="Arial"/>
              </a:rPr>
              <a:t>người</a:t>
            </a:r>
            <a:r>
              <a:rPr sz="170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700" b="0" i="0" dirty="0" err="1">
                <a:solidFill>
                  <a:srgbClr val="262626"/>
                </a:solidFill>
                <a:latin typeface="Arial"/>
              </a:rPr>
              <a:t>dùng</a:t>
            </a:r>
            <a:r>
              <a:rPr sz="1700" b="0" i="0" dirty="0">
                <a:solidFill>
                  <a:srgbClr val="262626"/>
                </a:solidFill>
                <a:latin typeface="Arial"/>
              </a:rPr>
              <a:t> + </a:t>
            </a:r>
            <a:r>
              <a:rPr sz="1700" b="0" i="0" dirty="0" err="1">
                <a:solidFill>
                  <a:srgbClr val="262626"/>
                </a:solidFill>
                <a:latin typeface="Arial"/>
              </a:rPr>
              <a:t>trang</a:t>
            </a:r>
            <a:r>
              <a:rPr sz="170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700" b="0" i="0" dirty="0" err="1">
                <a:solidFill>
                  <a:srgbClr val="262626"/>
                </a:solidFill>
                <a:latin typeface="Arial"/>
              </a:rPr>
              <a:t>quản</a:t>
            </a:r>
            <a:r>
              <a:rPr sz="170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700" b="0" i="0" dirty="0" err="1">
                <a:solidFill>
                  <a:srgbClr val="262626"/>
                </a:solidFill>
                <a:latin typeface="Arial"/>
              </a:rPr>
              <a:t>trị</a:t>
            </a:r>
            <a:r>
              <a:rPr sz="1700" b="0" i="0" dirty="0">
                <a:solidFill>
                  <a:srgbClr val="262626"/>
                </a:solidFill>
                <a:latin typeface="Arial"/>
              </a:rPr>
              <a:t> + Android scanner.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700" b="1" i="0" dirty="0">
                <a:solidFill>
                  <a:srgbClr val="C4122F"/>
                </a:solidFill>
                <a:latin typeface="Arial"/>
              </a:rPr>
              <a:t>•  </a:t>
            </a:r>
            <a:r>
              <a:rPr sz="1700" b="0" i="0" dirty="0">
                <a:solidFill>
                  <a:srgbClr val="262626"/>
                </a:solidFill>
                <a:latin typeface="Arial"/>
              </a:rPr>
              <a:t>Tài </a:t>
            </a:r>
            <a:r>
              <a:rPr sz="1700" b="0" i="0" dirty="0" err="1">
                <a:solidFill>
                  <a:srgbClr val="262626"/>
                </a:solidFill>
                <a:latin typeface="Arial"/>
              </a:rPr>
              <a:t>khoản</a:t>
            </a:r>
            <a:r>
              <a:rPr sz="1700" b="0" i="0" dirty="0">
                <a:solidFill>
                  <a:srgbClr val="262626"/>
                </a:solidFill>
                <a:latin typeface="Arial"/>
              </a:rPr>
              <a:t>: </a:t>
            </a:r>
            <a:r>
              <a:rPr sz="1700" b="0" i="0" dirty="0" err="1">
                <a:solidFill>
                  <a:srgbClr val="262626"/>
                </a:solidFill>
                <a:latin typeface="Arial"/>
              </a:rPr>
              <a:t>đăng</a:t>
            </a:r>
            <a:r>
              <a:rPr sz="170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700" b="0" i="0" dirty="0" err="1">
                <a:solidFill>
                  <a:srgbClr val="262626"/>
                </a:solidFill>
                <a:latin typeface="Arial"/>
              </a:rPr>
              <a:t>ký</a:t>
            </a:r>
            <a:r>
              <a:rPr sz="1700" b="0" i="0" dirty="0">
                <a:solidFill>
                  <a:srgbClr val="262626"/>
                </a:solidFill>
                <a:latin typeface="Arial"/>
              </a:rPr>
              <a:t>/</a:t>
            </a:r>
            <a:r>
              <a:rPr sz="1700" b="0" i="0" dirty="0" err="1">
                <a:solidFill>
                  <a:srgbClr val="262626"/>
                </a:solidFill>
                <a:latin typeface="Arial"/>
              </a:rPr>
              <a:t>đăng</a:t>
            </a:r>
            <a:r>
              <a:rPr sz="170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700" b="0" i="0" dirty="0" err="1">
                <a:solidFill>
                  <a:srgbClr val="262626"/>
                </a:solidFill>
                <a:latin typeface="Arial"/>
              </a:rPr>
              <a:t>nhập</a:t>
            </a:r>
            <a:r>
              <a:rPr sz="1700" b="0" i="0" dirty="0">
                <a:solidFill>
                  <a:srgbClr val="262626"/>
                </a:solidFill>
                <a:latin typeface="Arial"/>
              </a:rPr>
              <a:t>, Google, </a:t>
            </a:r>
            <a:r>
              <a:rPr sz="1700" b="0" i="0" dirty="0" err="1">
                <a:solidFill>
                  <a:srgbClr val="262626"/>
                </a:solidFill>
                <a:latin typeface="Arial"/>
              </a:rPr>
              <a:t>quên</a:t>
            </a:r>
            <a:r>
              <a:rPr sz="170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700" b="0" i="0" dirty="0" err="1">
                <a:solidFill>
                  <a:srgbClr val="262626"/>
                </a:solidFill>
                <a:latin typeface="Arial"/>
              </a:rPr>
              <a:t>mật</a:t>
            </a:r>
            <a:r>
              <a:rPr sz="170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700" b="0" i="0" dirty="0" err="1">
                <a:solidFill>
                  <a:srgbClr val="262626"/>
                </a:solidFill>
                <a:latin typeface="Arial"/>
              </a:rPr>
              <a:t>khẩu</a:t>
            </a:r>
            <a:r>
              <a:rPr sz="1700" b="0" i="0" dirty="0">
                <a:solidFill>
                  <a:srgbClr val="262626"/>
                </a:solidFill>
                <a:latin typeface="Arial"/>
              </a:rPr>
              <a:t>, </a:t>
            </a:r>
            <a:r>
              <a:rPr sz="1700" b="0" i="0" dirty="0" err="1">
                <a:solidFill>
                  <a:srgbClr val="262626"/>
                </a:solidFill>
                <a:latin typeface="Arial"/>
              </a:rPr>
              <a:t>phân</a:t>
            </a:r>
            <a:r>
              <a:rPr sz="170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700" b="0" i="0" dirty="0" err="1">
                <a:solidFill>
                  <a:srgbClr val="262626"/>
                </a:solidFill>
                <a:latin typeface="Arial"/>
              </a:rPr>
              <a:t>quyền</a:t>
            </a:r>
            <a:r>
              <a:rPr sz="1700" b="0" i="0" dirty="0">
                <a:solidFill>
                  <a:srgbClr val="262626"/>
                </a:solidFill>
                <a:latin typeface="Arial"/>
              </a:rPr>
              <a:t>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700" b="1" i="0" dirty="0">
                <a:solidFill>
                  <a:srgbClr val="C4122F"/>
                </a:solidFill>
                <a:latin typeface="Arial"/>
              </a:rPr>
              <a:t>•  </a:t>
            </a:r>
            <a:r>
              <a:rPr sz="1700" b="0" i="0" dirty="0" err="1">
                <a:solidFill>
                  <a:srgbClr val="262626"/>
                </a:solidFill>
                <a:latin typeface="Arial"/>
              </a:rPr>
              <a:t>Địa</a:t>
            </a:r>
            <a:r>
              <a:rPr sz="170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700" b="0" i="0" dirty="0" err="1">
                <a:solidFill>
                  <a:srgbClr val="262626"/>
                </a:solidFill>
                <a:latin typeface="Arial"/>
              </a:rPr>
              <a:t>điểm</a:t>
            </a:r>
            <a:r>
              <a:rPr sz="1700" b="0" i="0" dirty="0">
                <a:solidFill>
                  <a:srgbClr val="262626"/>
                </a:solidFill>
                <a:latin typeface="Arial"/>
              </a:rPr>
              <a:t>: </a:t>
            </a:r>
            <a:r>
              <a:rPr sz="1700" b="0" i="0" dirty="0" err="1">
                <a:solidFill>
                  <a:srgbClr val="262626"/>
                </a:solidFill>
                <a:latin typeface="Arial"/>
              </a:rPr>
              <a:t>tìm</a:t>
            </a:r>
            <a:r>
              <a:rPr sz="170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700" b="0" i="0" dirty="0" err="1">
                <a:solidFill>
                  <a:srgbClr val="262626"/>
                </a:solidFill>
                <a:latin typeface="Arial"/>
              </a:rPr>
              <a:t>kiếm</a:t>
            </a:r>
            <a:r>
              <a:rPr sz="1700" b="0" i="0" dirty="0">
                <a:solidFill>
                  <a:srgbClr val="262626"/>
                </a:solidFill>
                <a:latin typeface="Arial"/>
              </a:rPr>
              <a:t>, chi </a:t>
            </a:r>
            <a:r>
              <a:rPr sz="1700" b="0" i="0" dirty="0" err="1">
                <a:solidFill>
                  <a:srgbClr val="262626"/>
                </a:solidFill>
                <a:latin typeface="Arial"/>
              </a:rPr>
              <a:t>tiết</a:t>
            </a:r>
            <a:r>
              <a:rPr sz="1700" b="0" i="0" dirty="0">
                <a:solidFill>
                  <a:srgbClr val="262626"/>
                </a:solidFill>
                <a:latin typeface="Arial"/>
              </a:rPr>
              <a:t>, </a:t>
            </a:r>
            <a:r>
              <a:rPr sz="1700" b="0" i="0" dirty="0" err="1">
                <a:solidFill>
                  <a:srgbClr val="262626"/>
                </a:solidFill>
                <a:latin typeface="Arial"/>
              </a:rPr>
              <a:t>yêu</a:t>
            </a:r>
            <a:r>
              <a:rPr sz="170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700" b="0" i="0" dirty="0" err="1">
                <a:solidFill>
                  <a:srgbClr val="262626"/>
                </a:solidFill>
                <a:latin typeface="Arial"/>
              </a:rPr>
              <a:t>thích</a:t>
            </a:r>
            <a:r>
              <a:rPr sz="1700" b="0" i="0" dirty="0">
                <a:solidFill>
                  <a:srgbClr val="262626"/>
                </a:solidFill>
                <a:latin typeface="Arial"/>
              </a:rPr>
              <a:t>, </a:t>
            </a:r>
            <a:r>
              <a:rPr sz="1700" b="0" i="0" dirty="0" err="1">
                <a:solidFill>
                  <a:srgbClr val="262626"/>
                </a:solidFill>
                <a:latin typeface="Arial"/>
              </a:rPr>
              <a:t>đánh</a:t>
            </a:r>
            <a:r>
              <a:rPr sz="170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700" b="0" i="0" dirty="0" err="1">
                <a:solidFill>
                  <a:srgbClr val="262626"/>
                </a:solidFill>
                <a:latin typeface="Arial"/>
              </a:rPr>
              <a:t>giá</a:t>
            </a:r>
            <a:r>
              <a:rPr sz="1700" b="0" i="0" dirty="0">
                <a:solidFill>
                  <a:srgbClr val="262626"/>
                </a:solidFill>
                <a:latin typeface="Arial"/>
              </a:rPr>
              <a:t>, </a:t>
            </a:r>
            <a:r>
              <a:rPr sz="1700" b="0" i="0" dirty="0" err="1">
                <a:solidFill>
                  <a:srgbClr val="262626"/>
                </a:solidFill>
                <a:latin typeface="Arial"/>
              </a:rPr>
              <a:t>gợi</a:t>
            </a:r>
            <a:r>
              <a:rPr sz="1700" b="0" i="0" dirty="0">
                <a:solidFill>
                  <a:srgbClr val="262626"/>
                </a:solidFill>
                <a:latin typeface="Arial"/>
              </a:rPr>
              <a:t> ý, chatbot.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700" b="1" i="0" dirty="0">
                <a:solidFill>
                  <a:srgbClr val="C4122F"/>
                </a:solidFill>
                <a:latin typeface="Arial"/>
              </a:rPr>
              <a:t>•  </a:t>
            </a:r>
            <a:r>
              <a:rPr sz="1700" b="0" i="0" dirty="0" err="1">
                <a:solidFill>
                  <a:srgbClr val="262626"/>
                </a:solidFill>
                <a:latin typeface="Arial"/>
              </a:rPr>
              <a:t>Vé</a:t>
            </a:r>
            <a:r>
              <a:rPr sz="1700" b="0" i="0" dirty="0">
                <a:solidFill>
                  <a:srgbClr val="262626"/>
                </a:solidFill>
                <a:latin typeface="Arial"/>
              </a:rPr>
              <a:t>: </a:t>
            </a:r>
            <a:r>
              <a:rPr sz="1700" b="0" i="0" dirty="0" err="1">
                <a:solidFill>
                  <a:srgbClr val="262626"/>
                </a:solidFill>
                <a:latin typeface="Arial"/>
              </a:rPr>
              <a:t>đặt</a:t>
            </a:r>
            <a:r>
              <a:rPr sz="170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700" b="0" i="0" dirty="0" err="1">
                <a:solidFill>
                  <a:srgbClr val="262626"/>
                </a:solidFill>
                <a:latin typeface="Arial"/>
              </a:rPr>
              <a:t>vé</a:t>
            </a:r>
            <a:r>
              <a:rPr sz="1700" b="0" i="0" dirty="0">
                <a:solidFill>
                  <a:srgbClr val="262626"/>
                </a:solidFill>
                <a:latin typeface="Arial"/>
              </a:rPr>
              <a:t>, </a:t>
            </a:r>
            <a:r>
              <a:rPr sz="1700" b="0" i="0" dirty="0" err="1">
                <a:solidFill>
                  <a:srgbClr val="262626"/>
                </a:solidFill>
                <a:latin typeface="Arial"/>
              </a:rPr>
              <a:t>thanh</a:t>
            </a:r>
            <a:r>
              <a:rPr sz="170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700" b="0" i="0" dirty="0" err="1">
                <a:solidFill>
                  <a:srgbClr val="262626"/>
                </a:solidFill>
                <a:latin typeface="Arial"/>
              </a:rPr>
              <a:t>toán</a:t>
            </a:r>
            <a:r>
              <a:rPr sz="170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700" b="0" i="0" dirty="0" err="1">
                <a:solidFill>
                  <a:srgbClr val="262626"/>
                </a:solidFill>
                <a:latin typeface="Arial"/>
              </a:rPr>
              <a:t>PayOS</a:t>
            </a:r>
            <a:r>
              <a:rPr sz="1700" b="0" i="0" dirty="0">
                <a:solidFill>
                  <a:srgbClr val="262626"/>
                </a:solidFill>
                <a:latin typeface="Arial"/>
              </a:rPr>
              <a:t>, </a:t>
            </a:r>
            <a:r>
              <a:rPr sz="1700" b="0" i="0" dirty="0" err="1">
                <a:solidFill>
                  <a:srgbClr val="262626"/>
                </a:solidFill>
                <a:latin typeface="Arial"/>
              </a:rPr>
              <a:t>phát</a:t>
            </a:r>
            <a:r>
              <a:rPr sz="170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700" b="0" i="0" dirty="0" err="1">
                <a:solidFill>
                  <a:srgbClr val="262626"/>
                </a:solidFill>
                <a:latin typeface="Arial"/>
              </a:rPr>
              <a:t>hành</a:t>
            </a:r>
            <a:r>
              <a:rPr sz="170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700" b="0" i="0" dirty="0" err="1">
                <a:solidFill>
                  <a:srgbClr val="262626"/>
                </a:solidFill>
                <a:latin typeface="Arial"/>
              </a:rPr>
              <a:t>vé</a:t>
            </a:r>
            <a:r>
              <a:rPr sz="1700" b="0" i="0" dirty="0">
                <a:solidFill>
                  <a:srgbClr val="262626"/>
                </a:solidFill>
                <a:latin typeface="Arial"/>
              </a:rPr>
              <a:t> QR, </a:t>
            </a:r>
            <a:r>
              <a:rPr sz="1700" b="0" i="0" dirty="0" err="1">
                <a:solidFill>
                  <a:srgbClr val="262626"/>
                </a:solidFill>
                <a:latin typeface="Arial"/>
              </a:rPr>
              <a:t>soát</a:t>
            </a:r>
            <a:r>
              <a:rPr sz="170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700" b="0" i="0" dirty="0" err="1">
                <a:solidFill>
                  <a:srgbClr val="262626"/>
                </a:solidFill>
                <a:latin typeface="Arial"/>
              </a:rPr>
              <a:t>vé</a:t>
            </a:r>
            <a:r>
              <a:rPr sz="1700" b="0" i="0" dirty="0">
                <a:solidFill>
                  <a:srgbClr val="262626"/>
                </a:solidFill>
                <a:latin typeface="Arial"/>
              </a:rPr>
              <a:t> check-in.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700" b="1" i="0" dirty="0">
                <a:solidFill>
                  <a:srgbClr val="C4122F"/>
                </a:solidFill>
                <a:latin typeface="Arial"/>
              </a:rPr>
              <a:t>•  </a:t>
            </a:r>
            <a:r>
              <a:rPr sz="1700" b="0" i="0" dirty="0" err="1">
                <a:solidFill>
                  <a:srgbClr val="262626"/>
                </a:solidFill>
                <a:latin typeface="Arial"/>
              </a:rPr>
              <a:t>Tích</a:t>
            </a:r>
            <a:r>
              <a:rPr sz="170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700" b="0" i="0" dirty="0" err="1">
                <a:solidFill>
                  <a:srgbClr val="262626"/>
                </a:solidFill>
                <a:latin typeface="Arial"/>
              </a:rPr>
              <a:t>hợp</a:t>
            </a:r>
            <a:r>
              <a:rPr sz="170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700" b="0" i="0" dirty="0" err="1">
                <a:solidFill>
                  <a:srgbClr val="262626"/>
                </a:solidFill>
                <a:latin typeface="Arial"/>
              </a:rPr>
              <a:t>PayOS</a:t>
            </a:r>
            <a:r>
              <a:rPr sz="1700" b="0" i="0" dirty="0">
                <a:solidFill>
                  <a:srgbClr val="262626"/>
                </a:solidFill>
                <a:latin typeface="Arial"/>
              </a:rPr>
              <a:t>, Gemini, </a:t>
            </a:r>
            <a:r>
              <a:rPr sz="1700" b="0" i="0" dirty="0" err="1">
                <a:solidFill>
                  <a:srgbClr val="262626"/>
                </a:solidFill>
                <a:latin typeface="Arial"/>
              </a:rPr>
              <a:t>Goong</a:t>
            </a:r>
            <a:r>
              <a:rPr sz="1700" b="0" i="0" dirty="0">
                <a:solidFill>
                  <a:srgbClr val="262626"/>
                </a:solidFill>
                <a:latin typeface="Arial"/>
              </a:rPr>
              <a:t> API.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1901952"/>
            <a:ext cx="6008857" cy="3452263"/>
          </a:xfrm>
          <a:prstGeom prst="rect">
            <a:avLst/>
          </a:prstGeom>
          <a:ln w="9525">
            <a:solidFill>
              <a:srgbClr val="C9C9C9"/>
            </a:solidFill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201400" y="6309360"/>
            <a:ext cx="6858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 b="1">
                <a:solidFill>
                  <a:srgbClr val="C4122F"/>
                </a:solidFill>
                <a:latin typeface="Arial"/>
              </a:rPr>
              <a:t>21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0584"/>
            <a:ext cx="86868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600" b="1" i="0">
                <a:solidFill>
                  <a:srgbClr val="FFFFFF"/>
                </a:solidFill>
                <a:latin typeface="Arial"/>
              </a:rPr>
              <a:t>4. Kết quả &amp; kiểm thử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70432"/>
            <a:ext cx="110642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3000" b="1" i="0">
                <a:solidFill>
                  <a:srgbClr val="C4122F"/>
                </a:solidFill>
                <a:latin typeface="Arial"/>
              </a:rPr>
              <a:t>Kiểm thử nội bộ trên dữ liệu mẫu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2423160"/>
          <a:ext cx="10881360" cy="2420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17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400" b="1" i="0">
                          <a:solidFill>
                            <a:srgbClr val="FFFFFF"/>
                          </a:solidFill>
                          <a:latin typeface="Arial"/>
                        </a:rPr>
                        <a:t>Chỉ tiêu đánh giá</a:t>
                      </a:r>
                    </a:p>
                  </a:txBody>
                  <a:tcPr marL="82296" marR="45720" anchor="ctr">
                    <a:solidFill>
                      <a:srgbClr val="8C0B2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Arial"/>
                        </a:rPr>
                        <a:t>Tập mẫu</a:t>
                      </a:r>
                    </a:p>
                  </a:txBody>
                  <a:tcPr marL="82296" marR="45720" anchor="ctr">
                    <a:solidFill>
                      <a:srgbClr val="8C0B2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Arial"/>
                        </a:rPr>
                        <a:t>Số đạt</a:t>
                      </a:r>
                    </a:p>
                  </a:txBody>
                  <a:tcPr marL="82296" marR="45720" anchor="ctr">
                    <a:solidFill>
                      <a:srgbClr val="8C0B2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Arial"/>
                        </a:rPr>
                        <a:t>Tỷ lệ đạt</a:t>
                      </a:r>
                    </a:p>
                  </a:txBody>
                  <a:tcPr marL="82296" marR="45720" anchor="ctr">
                    <a:solidFill>
                      <a:srgbClr val="8C0B2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400" b="1" i="0">
                          <a:solidFill>
                            <a:srgbClr val="262626"/>
                          </a:solidFill>
                          <a:latin typeface="Arial"/>
                        </a:rPr>
                        <a:t>Gợi ý: trả về địa điểm đúng tiêu chí lọc (vị trí, độ tuổi, thẻ, giá, danh mục)</a:t>
                      </a:r>
                    </a:p>
                  </a:txBody>
                  <a:tcPr marL="82296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5 tiêu chí</a:t>
                      </a:r>
                    </a:p>
                  </a:txBody>
                  <a:tcPr marL="82296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82296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262626"/>
                          </a:solidFill>
                          <a:latin typeface="Arial"/>
                        </a:rPr>
                        <a:t>100%</a:t>
                      </a:r>
                    </a:p>
                  </a:txBody>
                  <a:tcPr marL="82296" marR="45720" anchor="ctr">
                    <a:solidFill>
                      <a:srgbClr val="E6F4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400" b="1" i="0">
                          <a:solidFill>
                            <a:srgbClr val="262626"/>
                          </a:solidFill>
                          <a:latin typeface="Arial"/>
                        </a:rPr>
                        <a:t>Gợi ý: xếp hạng theo độ liên quan rồi khoảng cách / đánh giá</a:t>
                      </a:r>
                    </a:p>
                  </a:txBody>
                  <a:tcPr marL="82296" marR="45720" anchor="ctr"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1 tiêu chí</a:t>
                      </a:r>
                    </a:p>
                  </a:txBody>
                  <a:tcPr marL="82296" marR="45720" anchor="ctr"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82296" marR="45720" anchor="ctr"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262626"/>
                          </a:solidFill>
                          <a:latin typeface="Arial"/>
                        </a:rPr>
                        <a:t>100%</a:t>
                      </a:r>
                    </a:p>
                  </a:txBody>
                  <a:tcPr marL="82296" marR="45720" anchor="ctr">
                    <a:solidFill>
                      <a:srgbClr val="E6F4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400" b="1" i="0">
                          <a:solidFill>
                            <a:srgbClr val="262626"/>
                          </a:solidFill>
                          <a:latin typeface="Arial"/>
                        </a:rPr>
                        <a:t>Chatbot: trả lời đúng phạm vi với câu hỏi trong phạm vi dữ liệu</a:t>
                      </a:r>
                    </a:p>
                  </a:txBody>
                  <a:tcPr marL="82296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4 câu hỏi</a:t>
                      </a:r>
                    </a:p>
                  </a:txBody>
                  <a:tcPr marL="82296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82296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262626"/>
                          </a:solidFill>
                          <a:latin typeface="Arial"/>
                        </a:rPr>
                        <a:t>100%</a:t>
                      </a:r>
                    </a:p>
                  </a:txBody>
                  <a:tcPr marL="82296" marR="45720" anchor="ctr">
                    <a:solidFill>
                      <a:srgbClr val="E6F4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400" b="1" i="0">
                          <a:solidFill>
                            <a:srgbClr val="262626"/>
                          </a:solidFill>
                          <a:latin typeface="Arial"/>
                        </a:rPr>
                        <a:t>Chatbot: từ chối đúng ("Không có dữ liệu") với câu ngoài phạm vi</a:t>
                      </a:r>
                    </a:p>
                  </a:txBody>
                  <a:tcPr marL="82296" marR="45720" anchor="ctr"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4 câu hỏi</a:t>
                      </a:r>
                    </a:p>
                  </a:txBody>
                  <a:tcPr marL="82296" marR="45720" anchor="ctr"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82296" marR="45720" anchor="ctr"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262626"/>
                          </a:solidFill>
                          <a:latin typeface="Arial"/>
                        </a:rPr>
                        <a:t>100%</a:t>
                      </a:r>
                    </a:p>
                  </a:txBody>
                  <a:tcPr marL="82296" marR="45720" anchor="ctr">
                    <a:solidFill>
                      <a:srgbClr val="E6F4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828800" y="2560320"/>
            <a:ext cx="8503920" cy="1828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Arial"/>
              </a:rPr>
              <a:t>05</a:t>
            </a:r>
          </a:p>
          <a:p>
            <a:pPr algn="ctr">
              <a:spcBef>
                <a:spcPts val="800"/>
              </a:spcBef>
            </a:pPr>
            <a:r>
              <a:rPr sz="3400" b="1" i="0">
                <a:solidFill>
                  <a:srgbClr val="FFFFFF"/>
                </a:solidFill>
                <a:latin typeface="Arial"/>
              </a:rPr>
              <a:t>KẾT LUẬN &amp; HƯỚNG PHÁT TRIỂN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201400" y="6309360"/>
            <a:ext cx="6858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 b="1">
                <a:solidFill>
                  <a:srgbClr val="C4122F"/>
                </a:solidFill>
                <a:latin typeface="Arial"/>
              </a:rPr>
              <a:t>23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0584"/>
            <a:ext cx="86868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600" b="1" i="0">
                <a:solidFill>
                  <a:srgbClr val="FFFFFF"/>
                </a:solidFill>
                <a:latin typeface="Arial"/>
              </a:rPr>
              <a:t>5. Kết luận &amp; hướng phát triển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70432"/>
            <a:ext cx="110642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3000" b="1" dirty="0" err="1">
                <a:solidFill>
                  <a:srgbClr val="C4122F"/>
                </a:solidFill>
                <a:latin typeface="Arial"/>
              </a:rPr>
              <a:t>Hạn</a:t>
            </a:r>
            <a:r>
              <a:rPr sz="3000" b="1" dirty="0">
                <a:solidFill>
                  <a:srgbClr val="C4122F"/>
                </a:solidFill>
                <a:latin typeface="Arial"/>
              </a:rPr>
              <a:t> </a:t>
            </a:r>
            <a:r>
              <a:rPr sz="3000" b="1" dirty="0" err="1">
                <a:solidFill>
                  <a:srgbClr val="C4122F"/>
                </a:solidFill>
                <a:latin typeface="Arial"/>
              </a:rPr>
              <a:t>chế</a:t>
            </a:r>
            <a:r>
              <a:rPr sz="3000" b="1" dirty="0">
                <a:solidFill>
                  <a:srgbClr val="C4122F"/>
                </a:solidFill>
                <a:latin typeface="Arial"/>
              </a:rPr>
              <a:t> &amp; </a:t>
            </a:r>
            <a:r>
              <a:rPr sz="3000" b="1" dirty="0" err="1">
                <a:solidFill>
                  <a:srgbClr val="C4122F"/>
                </a:solidFill>
                <a:latin typeface="Arial"/>
              </a:rPr>
              <a:t>hướng</a:t>
            </a:r>
            <a:r>
              <a:rPr sz="3000" b="1" dirty="0">
                <a:solidFill>
                  <a:srgbClr val="C4122F"/>
                </a:solidFill>
                <a:latin typeface="Arial"/>
              </a:rPr>
              <a:t> </a:t>
            </a:r>
            <a:r>
              <a:rPr sz="3000" b="1" dirty="0" err="1">
                <a:solidFill>
                  <a:srgbClr val="C4122F"/>
                </a:solidFill>
                <a:latin typeface="Arial"/>
              </a:rPr>
              <a:t>phát</a:t>
            </a:r>
            <a:r>
              <a:rPr sz="3000" b="1" dirty="0">
                <a:solidFill>
                  <a:srgbClr val="C4122F"/>
                </a:solidFill>
                <a:latin typeface="Arial"/>
              </a:rPr>
              <a:t> </a:t>
            </a:r>
            <a:r>
              <a:rPr sz="3000" b="1" dirty="0" err="1">
                <a:solidFill>
                  <a:srgbClr val="C4122F"/>
                </a:solidFill>
                <a:latin typeface="Arial"/>
              </a:rPr>
              <a:t>triển</a:t>
            </a:r>
            <a:endParaRPr sz="3000" b="1" dirty="0">
              <a:solidFill>
                <a:srgbClr val="C4122F"/>
              </a:solidFill>
              <a:latin typeface="Arial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640080" y="2103120"/>
            <a:ext cx="5349240" cy="2509911"/>
          </a:xfrm>
          <a:prstGeom prst="roundRect">
            <a:avLst/>
          </a:prstGeom>
          <a:solidFill>
            <a:srgbClr val="F1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18872" rIns="128016" bIns="91440" rtlCol="0" anchor="t"/>
          <a:lstStyle/>
          <a:p>
            <a:pPr algn="l">
              <a:spcAft>
                <a:spcPts val="700"/>
              </a:spcAft>
            </a:pPr>
            <a:r>
              <a:rPr sz="1800" b="1" dirty="0" err="1">
                <a:solidFill>
                  <a:srgbClr val="8C0B21"/>
                </a:solidFill>
                <a:latin typeface="Arial"/>
              </a:rPr>
              <a:t>Hạn</a:t>
            </a:r>
            <a:r>
              <a:rPr sz="1800" b="1" dirty="0">
                <a:solidFill>
                  <a:srgbClr val="8C0B21"/>
                </a:solidFill>
                <a:latin typeface="Arial"/>
              </a:rPr>
              <a:t> </a:t>
            </a:r>
            <a:r>
              <a:rPr sz="1800" b="1" dirty="0" err="1">
                <a:solidFill>
                  <a:srgbClr val="8C0B21"/>
                </a:solidFill>
                <a:latin typeface="Arial"/>
              </a:rPr>
              <a:t>chế</a:t>
            </a:r>
            <a:endParaRPr sz="1800" b="1" dirty="0">
              <a:solidFill>
                <a:srgbClr val="8C0B21"/>
              </a:solidFill>
              <a:latin typeface="Arial"/>
            </a:endParaRPr>
          </a:p>
          <a:p>
            <a:pPr>
              <a:lnSpc>
                <a:spcPct val="104000"/>
              </a:lnSpc>
              <a:spcAft>
                <a:spcPts val="500"/>
              </a:spcAft>
            </a:pPr>
            <a:r>
              <a:rPr sz="1600" b="1" dirty="0">
                <a:solidFill>
                  <a:srgbClr val="C4122F"/>
                </a:solidFill>
                <a:latin typeface="Arial"/>
              </a:rPr>
              <a:t>• </a:t>
            </a:r>
            <a:r>
              <a:rPr sz="1600" b="0" dirty="0" err="1">
                <a:solidFill>
                  <a:srgbClr val="262626"/>
                </a:solidFill>
                <a:latin typeface="Arial"/>
              </a:rPr>
              <a:t>Chưa</a:t>
            </a:r>
            <a:r>
              <a:rPr sz="1600" b="0" dirty="0">
                <a:solidFill>
                  <a:srgbClr val="262626"/>
                </a:solidFill>
                <a:latin typeface="Arial"/>
              </a:rPr>
              <a:t> </a:t>
            </a:r>
            <a:r>
              <a:rPr sz="1600" b="0" dirty="0" err="1">
                <a:solidFill>
                  <a:srgbClr val="262626"/>
                </a:solidFill>
                <a:latin typeface="Arial"/>
              </a:rPr>
              <a:t>khảo</a:t>
            </a:r>
            <a:r>
              <a:rPr sz="1600" b="0" dirty="0">
                <a:solidFill>
                  <a:srgbClr val="262626"/>
                </a:solidFill>
                <a:latin typeface="Arial"/>
              </a:rPr>
              <a:t> </a:t>
            </a:r>
            <a:r>
              <a:rPr sz="1600" b="0" dirty="0" err="1">
                <a:solidFill>
                  <a:srgbClr val="262626"/>
                </a:solidFill>
                <a:latin typeface="Arial"/>
              </a:rPr>
              <a:t>sát</a:t>
            </a:r>
            <a:r>
              <a:rPr sz="1600" b="0" dirty="0">
                <a:solidFill>
                  <a:srgbClr val="262626"/>
                </a:solidFill>
                <a:latin typeface="Arial"/>
              </a:rPr>
              <a:t> </a:t>
            </a:r>
            <a:r>
              <a:rPr sz="1600" b="0" dirty="0" err="1">
                <a:solidFill>
                  <a:srgbClr val="262626"/>
                </a:solidFill>
                <a:latin typeface="Arial"/>
              </a:rPr>
              <a:t>người</a:t>
            </a:r>
            <a:r>
              <a:rPr sz="1600" b="0" dirty="0">
                <a:solidFill>
                  <a:srgbClr val="262626"/>
                </a:solidFill>
                <a:latin typeface="Arial"/>
              </a:rPr>
              <a:t> </a:t>
            </a:r>
            <a:r>
              <a:rPr sz="1600" b="0" dirty="0" err="1">
                <a:solidFill>
                  <a:srgbClr val="262626"/>
                </a:solidFill>
                <a:latin typeface="Arial"/>
              </a:rPr>
              <a:t>dùng</a:t>
            </a:r>
            <a:r>
              <a:rPr sz="1600" b="0" dirty="0">
                <a:solidFill>
                  <a:srgbClr val="262626"/>
                </a:solidFill>
                <a:latin typeface="Arial"/>
              </a:rPr>
              <a:t> </a:t>
            </a:r>
            <a:r>
              <a:rPr sz="1600" b="0" dirty="0" err="1">
                <a:solidFill>
                  <a:srgbClr val="262626"/>
                </a:solidFill>
                <a:latin typeface="Arial"/>
              </a:rPr>
              <a:t>thực</a:t>
            </a:r>
            <a:r>
              <a:rPr sz="1600" b="0" dirty="0">
                <a:solidFill>
                  <a:srgbClr val="262626"/>
                </a:solidFill>
                <a:latin typeface="Arial"/>
              </a:rPr>
              <a:t> </a:t>
            </a:r>
            <a:r>
              <a:rPr sz="1600" b="0" dirty="0" err="1">
                <a:solidFill>
                  <a:srgbClr val="262626"/>
                </a:solidFill>
                <a:latin typeface="Arial"/>
              </a:rPr>
              <a:t>tế</a:t>
            </a:r>
            <a:r>
              <a:rPr sz="1600" b="0" dirty="0">
                <a:solidFill>
                  <a:srgbClr val="262626"/>
                </a:solidFill>
                <a:latin typeface="Arial"/>
              </a:rPr>
              <a:t>; </a:t>
            </a:r>
            <a:r>
              <a:rPr sz="1600" b="0" dirty="0" err="1">
                <a:solidFill>
                  <a:srgbClr val="262626"/>
                </a:solidFill>
                <a:latin typeface="Arial"/>
              </a:rPr>
              <a:t>chưa</a:t>
            </a:r>
            <a:r>
              <a:rPr sz="1600" b="0" dirty="0">
                <a:solidFill>
                  <a:srgbClr val="262626"/>
                </a:solidFill>
                <a:latin typeface="Arial"/>
              </a:rPr>
              <a:t> </a:t>
            </a:r>
            <a:r>
              <a:rPr sz="1600" b="0" dirty="0" err="1">
                <a:solidFill>
                  <a:srgbClr val="262626"/>
                </a:solidFill>
                <a:latin typeface="Arial"/>
              </a:rPr>
              <a:t>kiểm</a:t>
            </a:r>
            <a:r>
              <a:rPr sz="1600" b="0" dirty="0">
                <a:solidFill>
                  <a:srgbClr val="262626"/>
                </a:solidFill>
                <a:latin typeface="Arial"/>
              </a:rPr>
              <a:t> </a:t>
            </a:r>
            <a:r>
              <a:rPr sz="1600" b="0" dirty="0" err="1">
                <a:solidFill>
                  <a:srgbClr val="262626"/>
                </a:solidFill>
                <a:latin typeface="Arial"/>
              </a:rPr>
              <a:t>thử</a:t>
            </a:r>
            <a:r>
              <a:rPr sz="1600" b="0" dirty="0">
                <a:solidFill>
                  <a:srgbClr val="262626"/>
                </a:solidFill>
                <a:latin typeface="Arial"/>
              </a:rPr>
              <a:t> </a:t>
            </a:r>
            <a:r>
              <a:rPr sz="1600" b="0" dirty="0" err="1">
                <a:solidFill>
                  <a:srgbClr val="262626"/>
                </a:solidFill>
                <a:latin typeface="Arial"/>
              </a:rPr>
              <a:t>tải</a:t>
            </a:r>
            <a:r>
              <a:rPr sz="1600" b="0" dirty="0">
                <a:solidFill>
                  <a:srgbClr val="262626"/>
                </a:solidFill>
                <a:latin typeface="Arial"/>
              </a:rPr>
              <a:t> </a:t>
            </a:r>
            <a:r>
              <a:rPr sz="1600" b="0" dirty="0" err="1">
                <a:solidFill>
                  <a:srgbClr val="262626"/>
                </a:solidFill>
                <a:latin typeface="Arial"/>
              </a:rPr>
              <a:t>và</a:t>
            </a:r>
            <a:r>
              <a:rPr sz="1600" b="0" dirty="0">
                <a:solidFill>
                  <a:srgbClr val="262626"/>
                </a:solidFill>
                <a:latin typeface="Arial"/>
              </a:rPr>
              <a:t> </a:t>
            </a:r>
            <a:r>
              <a:rPr sz="1600" b="0" dirty="0" err="1">
                <a:solidFill>
                  <a:srgbClr val="262626"/>
                </a:solidFill>
                <a:latin typeface="Arial"/>
              </a:rPr>
              <a:t>hiệu</a:t>
            </a:r>
            <a:r>
              <a:rPr sz="1600" b="0" dirty="0">
                <a:solidFill>
                  <a:srgbClr val="262626"/>
                </a:solidFill>
                <a:latin typeface="Arial"/>
              </a:rPr>
              <a:t> </a:t>
            </a:r>
            <a:r>
              <a:rPr sz="1600" b="0" dirty="0" err="1">
                <a:solidFill>
                  <a:srgbClr val="262626"/>
                </a:solidFill>
                <a:latin typeface="Arial"/>
              </a:rPr>
              <a:t>năng</a:t>
            </a:r>
            <a:r>
              <a:rPr sz="1600" b="0" dirty="0">
                <a:solidFill>
                  <a:srgbClr val="262626"/>
                </a:solidFill>
                <a:latin typeface="Arial"/>
              </a:rPr>
              <a:t>.</a:t>
            </a:r>
          </a:p>
          <a:p>
            <a:pPr>
              <a:lnSpc>
                <a:spcPct val="104000"/>
              </a:lnSpc>
              <a:spcAft>
                <a:spcPts val="500"/>
              </a:spcAft>
            </a:pPr>
            <a:r>
              <a:rPr sz="1600" b="1" dirty="0">
                <a:solidFill>
                  <a:srgbClr val="C4122F"/>
                </a:solidFill>
                <a:latin typeface="Arial"/>
              </a:rPr>
              <a:t>• </a:t>
            </a:r>
            <a:r>
              <a:rPr sz="1600" b="0" dirty="0">
                <a:solidFill>
                  <a:srgbClr val="262626"/>
                </a:solidFill>
                <a:latin typeface="Arial"/>
              </a:rPr>
              <a:t>Load </a:t>
            </a:r>
            <a:r>
              <a:rPr sz="1600" b="0" dirty="0" err="1">
                <a:solidFill>
                  <a:srgbClr val="262626"/>
                </a:solidFill>
                <a:latin typeface="Arial"/>
              </a:rPr>
              <a:t>toàn</a:t>
            </a:r>
            <a:r>
              <a:rPr sz="1600" b="0" dirty="0">
                <a:solidFill>
                  <a:srgbClr val="262626"/>
                </a:solidFill>
                <a:latin typeface="Arial"/>
              </a:rPr>
              <a:t> </a:t>
            </a:r>
            <a:r>
              <a:rPr sz="1600" b="0" dirty="0" err="1">
                <a:solidFill>
                  <a:srgbClr val="262626"/>
                </a:solidFill>
                <a:latin typeface="Arial"/>
              </a:rPr>
              <a:t>bộ</a:t>
            </a:r>
            <a:r>
              <a:rPr sz="1600" b="0" dirty="0">
                <a:solidFill>
                  <a:srgbClr val="262626"/>
                </a:solidFill>
                <a:latin typeface="Arial"/>
              </a:rPr>
              <a:t> </a:t>
            </a:r>
            <a:r>
              <a:rPr sz="1600" b="0" dirty="0" err="1">
                <a:solidFill>
                  <a:srgbClr val="262626"/>
                </a:solidFill>
                <a:latin typeface="Arial"/>
              </a:rPr>
              <a:t>dữ</a:t>
            </a:r>
            <a:r>
              <a:rPr sz="1600" b="0" dirty="0">
                <a:solidFill>
                  <a:srgbClr val="262626"/>
                </a:solidFill>
                <a:latin typeface="Arial"/>
              </a:rPr>
              <a:t> </a:t>
            </a:r>
            <a:r>
              <a:rPr sz="1600" b="0" dirty="0" err="1">
                <a:solidFill>
                  <a:srgbClr val="262626"/>
                </a:solidFill>
                <a:latin typeface="Arial"/>
              </a:rPr>
              <a:t>liệu</a:t>
            </a:r>
            <a:r>
              <a:rPr sz="1600" b="0" dirty="0">
                <a:solidFill>
                  <a:srgbClr val="262626"/>
                </a:solidFill>
                <a:latin typeface="Arial"/>
              </a:rPr>
              <a:t> </a:t>
            </a:r>
            <a:r>
              <a:rPr sz="1600" b="0" dirty="0" err="1">
                <a:solidFill>
                  <a:srgbClr val="262626"/>
                </a:solidFill>
                <a:latin typeface="Arial"/>
              </a:rPr>
              <a:t>mỗi</a:t>
            </a:r>
            <a:r>
              <a:rPr sz="1600" b="0" dirty="0">
                <a:solidFill>
                  <a:srgbClr val="262626"/>
                </a:solidFill>
                <a:latin typeface="Arial"/>
              </a:rPr>
              <a:t> </a:t>
            </a:r>
            <a:r>
              <a:rPr sz="1600" b="0" dirty="0" err="1">
                <a:solidFill>
                  <a:srgbClr val="262626"/>
                </a:solidFill>
                <a:latin typeface="Arial"/>
              </a:rPr>
              <a:t>truy</a:t>
            </a:r>
            <a:r>
              <a:rPr sz="1600" b="0" dirty="0">
                <a:solidFill>
                  <a:srgbClr val="262626"/>
                </a:solidFill>
                <a:latin typeface="Arial"/>
              </a:rPr>
              <a:t> </a:t>
            </a:r>
            <a:r>
              <a:rPr sz="1600" b="0" dirty="0" err="1">
                <a:solidFill>
                  <a:srgbClr val="262626"/>
                </a:solidFill>
                <a:latin typeface="Arial"/>
              </a:rPr>
              <a:t>vấn</a:t>
            </a:r>
            <a:r>
              <a:rPr sz="1600" b="0" dirty="0">
                <a:solidFill>
                  <a:srgbClr val="262626"/>
                </a:solidFill>
                <a:latin typeface="Arial"/>
              </a:rPr>
              <a:t> → </a:t>
            </a:r>
            <a:r>
              <a:rPr sz="1600" b="0" dirty="0" err="1">
                <a:solidFill>
                  <a:srgbClr val="262626"/>
                </a:solidFill>
                <a:latin typeface="Arial"/>
              </a:rPr>
              <a:t>chậm</a:t>
            </a:r>
            <a:r>
              <a:rPr sz="1600" b="0" dirty="0">
                <a:solidFill>
                  <a:srgbClr val="262626"/>
                </a:solidFill>
                <a:latin typeface="Arial"/>
              </a:rPr>
              <a:t> </a:t>
            </a:r>
            <a:r>
              <a:rPr sz="1600" b="0" dirty="0" err="1">
                <a:solidFill>
                  <a:srgbClr val="262626"/>
                </a:solidFill>
                <a:latin typeface="Arial"/>
              </a:rPr>
              <a:t>khi</a:t>
            </a:r>
            <a:r>
              <a:rPr sz="1600" b="0" dirty="0">
                <a:solidFill>
                  <a:srgbClr val="262626"/>
                </a:solidFill>
                <a:latin typeface="Arial"/>
              </a:rPr>
              <a:t> DB </a:t>
            </a:r>
            <a:r>
              <a:rPr sz="1600" b="0" dirty="0" err="1">
                <a:solidFill>
                  <a:srgbClr val="262626"/>
                </a:solidFill>
                <a:latin typeface="Arial"/>
              </a:rPr>
              <a:t>lớn</a:t>
            </a:r>
            <a:r>
              <a:rPr sz="1600" b="0" dirty="0">
                <a:solidFill>
                  <a:srgbClr val="262626"/>
                </a:solidFill>
                <a:latin typeface="Arial"/>
              </a:rPr>
              <a:t>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2103120"/>
            <a:ext cx="5349240" cy="2509911"/>
          </a:xfrm>
          <a:prstGeom prst="roundRect">
            <a:avLst/>
          </a:prstGeom>
          <a:solidFill>
            <a:srgbClr val="E3E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18872" rIns="128016" bIns="91440" rtlCol="0" anchor="t"/>
          <a:lstStyle/>
          <a:p>
            <a:pPr algn="l">
              <a:spcAft>
                <a:spcPts val="700"/>
              </a:spcAft>
            </a:pPr>
            <a:r>
              <a:rPr sz="1800" b="1" i="0" dirty="0" err="1">
                <a:solidFill>
                  <a:srgbClr val="8C0B21"/>
                </a:solidFill>
                <a:latin typeface="Arial"/>
              </a:rPr>
              <a:t>Hướng</a:t>
            </a:r>
            <a:r>
              <a:rPr sz="1800" b="1" i="0" dirty="0">
                <a:solidFill>
                  <a:srgbClr val="8C0B21"/>
                </a:solidFill>
                <a:latin typeface="Arial"/>
              </a:rPr>
              <a:t> </a:t>
            </a:r>
            <a:r>
              <a:rPr sz="1800" b="1" i="0" dirty="0" err="1">
                <a:solidFill>
                  <a:srgbClr val="8C0B21"/>
                </a:solidFill>
                <a:latin typeface="Arial"/>
              </a:rPr>
              <a:t>phát</a:t>
            </a:r>
            <a:r>
              <a:rPr sz="1800" b="1" i="0" dirty="0">
                <a:solidFill>
                  <a:srgbClr val="8C0B21"/>
                </a:solidFill>
                <a:latin typeface="Arial"/>
              </a:rPr>
              <a:t> </a:t>
            </a:r>
            <a:r>
              <a:rPr sz="1800" b="1" i="0" dirty="0" err="1">
                <a:solidFill>
                  <a:srgbClr val="8C0B21"/>
                </a:solidFill>
                <a:latin typeface="Arial"/>
              </a:rPr>
              <a:t>triển</a:t>
            </a:r>
            <a:endParaRPr sz="1800" b="1" i="0" dirty="0">
              <a:solidFill>
                <a:srgbClr val="8C0B21"/>
              </a:solidFill>
              <a:latin typeface="Arial"/>
            </a:endParaRPr>
          </a:p>
          <a:p>
            <a:pPr>
              <a:lnSpc>
                <a:spcPct val="104000"/>
              </a:lnSpc>
              <a:spcAft>
                <a:spcPts val="500"/>
              </a:spcAft>
            </a:pPr>
            <a:r>
              <a:rPr sz="1600" b="1" i="0" dirty="0">
                <a:solidFill>
                  <a:srgbClr val="C4122F"/>
                </a:solidFill>
                <a:latin typeface="Arial"/>
              </a:rPr>
              <a:t>• </a:t>
            </a:r>
            <a:r>
              <a:rPr sz="1600" b="0" i="0" dirty="0" err="1">
                <a:solidFill>
                  <a:srgbClr val="262626"/>
                </a:solidFill>
                <a:latin typeface="Arial"/>
              </a:rPr>
              <a:t>Khảo</a:t>
            </a:r>
            <a:r>
              <a:rPr sz="160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600" b="0" i="0" dirty="0" err="1">
                <a:solidFill>
                  <a:srgbClr val="262626"/>
                </a:solidFill>
                <a:latin typeface="Arial"/>
              </a:rPr>
              <a:t>sát</a:t>
            </a:r>
            <a:r>
              <a:rPr sz="160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600" b="0" i="0" dirty="0" err="1">
                <a:solidFill>
                  <a:srgbClr val="262626"/>
                </a:solidFill>
                <a:latin typeface="Arial"/>
              </a:rPr>
              <a:t>người</a:t>
            </a:r>
            <a:r>
              <a:rPr sz="160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600" b="0" i="0" dirty="0" err="1">
                <a:solidFill>
                  <a:srgbClr val="262626"/>
                </a:solidFill>
                <a:latin typeface="Arial"/>
              </a:rPr>
              <a:t>dùng</a:t>
            </a:r>
            <a:r>
              <a:rPr sz="160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600" b="0" i="0" dirty="0" err="1">
                <a:solidFill>
                  <a:srgbClr val="262626"/>
                </a:solidFill>
                <a:latin typeface="Arial"/>
              </a:rPr>
              <a:t>thật</a:t>
            </a:r>
            <a:r>
              <a:rPr sz="1600" b="0" i="0" dirty="0">
                <a:solidFill>
                  <a:srgbClr val="262626"/>
                </a:solidFill>
                <a:latin typeface="Arial"/>
              </a:rPr>
              <a:t>, </a:t>
            </a:r>
            <a:r>
              <a:rPr sz="1600" b="0" i="0" dirty="0" err="1">
                <a:solidFill>
                  <a:srgbClr val="262626"/>
                </a:solidFill>
                <a:latin typeface="Arial"/>
              </a:rPr>
              <a:t>kiểm</a:t>
            </a:r>
            <a:r>
              <a:rPr sz="160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600" b="0" i="0" dirty="0" err="1">
                <a:solidFill>
                  <a:srgbClr val="262626"/>
                </a:solidFill>
                <a:latin typeface="Arial"/>
              </a:rPr>
              <a:t>thử</a:t>
            </a:r>
            <a:r>
              <a:rPr sz="160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600" b="0" i="0" dirty="0" err="1">
                <a:solidFill>
                  <a:srgbClr val="262626"/>
                </a:solidFill>
                <a:latin typeface="Arial"/>
              </a:rPr>
              <a:t>tải</a:t>
            </a:r>
            <a:r>
              <a:rPr sz="1600" b="0" i="0" dirty="0">
                <a:solidFill>
                  <a:srgbClr val="262626"/>
                </a:solidFill>
                <a:latin typeface="Arial"/>
              </a:rPr>
              <a:t>.</a:t>
            </a:r>
          </a:p>
          <a:p>
            <a:pPr>
              <a:lnSpc>
                <a:spcPct val="104000"/>
              </a:lnSpc>
              <a:spcAft>
                <a:spcPts val="500"/>
              </a:spcAft>
            </a:pPr>
            <a:r>
              <a:rPr sz="1600" b="1" i="0" dirty="0">
                <a:solidFill>
                  <a:srgbClr val="C4122F"/>
                </a:solidFill>
                <a:latin typeface="Arial"/>
              </a:rPr>
              <a:t>•</a:t>
            </a:r>
            <a:r>
              <a:rPr lang="en-US" sz="1600" b="1" i="0" dirty="0">
                <a:solidFill>
                  <a:srgbClr val="C4122F"/>
                </a:solidFill>
                <a:latin typeface="Arial"/>
              </a:rPr>
              <a:t> </a:t>
            </a:r>
            <a:r>
              <a:rPr lang="vi-VN" sz="1600" i="0" dirty="0">
                <a:solidFill>
                  <a:schemeClr val="tx1"/>
                </a:solidFill>
                <a:latin typeface="Arial"/>
              </a:rPr>
              <a:t>Cải tiến </a:t>
            </a:r>
            <a:r>
              <a:rPr lang="en-US" sz="1600" dirty="0">
                <a:solidFill>
                  <a:srgbClr val="262626"/>
                </a:solidFill>
                <a:latin typeface="Arial"/>
              </a:rPr>
              <a:t>C</a:t>
            </a:r>
            <a:r>
              <a:rPr sz="1600" b="0" i="0" dirty="0">
                <a:solidFill>
                  <a:srgbClr val="262626"/>
                </a:solidFill>
                <a:latin typeface="Arial"/>
              </a:rPr>
              <a:t>hatbot</a:t>
            </a:r>
          </a:p>
          <a:p>
            <a:pPr>
              <a:lnSpc>
                <a:spcPct val="104000"/>
              </a:lnSpc>
              <a:spcAft>
                <a:spcPts val="500"/>
              </a:spcAft>
            </a:pPr>
            <a:r>
              <a:rPr sz="1600" b="1" i="0" dirty="0">
                <a:solidFill>
                  <a:srgbClr val="C4122F"/>
                </a:solidFill>
                <a:latin typeface="Arial"/>
              </a:rPr>
              <a:t>• </a:t>
            </a:r>
            <a:r>
              <a:rPr sz="1600" b="0" i="0" dirty="0" err="1">
                <a:solidFill>
                  <a:srgbClr val="262626"/>
                </a:solidFill>
                <a:latin typeface="Arial"/>
              </a:rPr>
              <a:t>Cá</a:t>
            </a:r>
            <a:r>
              <a:rPr sz="160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600" b="0" i="0" dirty="0" err="1">
                <a:solidFill>
                  <a:srgbClr val="262626"/>
                </a:solidFill>
                <a:latin typeface="Arial"/>
              </a:rPr>
              <a:t>nhân</a:t>
            </a:r>
            <a:r>
              <a:rPr sz="160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600" b="0" i="0" dirty="0" err="1">
                <a:solidFill>
                  <a:srgbClr val="262626"/>
                </a:solidFill>
                <a:latin typeface="Arial"/>
              </a:rPr>
              <a:t>hóa</a:t>
            </a:r>
            <a:r>
              <a:rPr sz="160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600" b="0" i="0" dirty="0" err="1">
                <a:solidFill>
                  <a:srgbClr val="262626"/>
                </a:solidFill>
                <a:latin typeface="Arial"/>
              </a:rPr>
              <a:t>gợi</a:t>
            </a:r>
            <a:r>
              <a:rPr sz="1600" b="0" i="0" dirty="0">
                <a:solidFill>
                  <a:srgbClr val="262626"/>
                </a:solidFill>
                <a:latin typeface="Arial"/>
              </a:rPr>
              <a:t> ý, </a:t>
            </a:r>
            <a:r>
              <a:rPr sz="1600" b="0" i="0" dirty="0" err="1">
                <a:solidFill>
                  <a:srgbClr val="262626"/>
                </a:solidFill>
                <a:latin typeface="Arial"/>
              </a:rPr>
              <a:t>mở</a:t>
            </a:r>
            <a:r>
              <a:rPr sz="160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600" b="0" i="0" dirty="0" err="1">
                <a:solidFill>
                  <a:srgbClr val="262626"/>
                </a:solidFill>
                <a:latin typeface="Arial"/>
              </a:rPr>
              <a:t>rộng</a:t>
            </a:r>
            <a:r>
              <a:rPr sz="160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600" b="0" i="0" dirty="0" err="1">
                <a:solidFill>
                  <a:srgbClr val="262626"/>
                </a:solidFill>
                <a:latin typeface="Arial"/>
              </a:rPr>
              <a:t>dữ</a:t>
            </a:r>
            <a:r>
              <a:rPr sz="160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600" b="0" i="0" dirty="0" err="1">
                <a:solidFill>
                  <a:srgbClr val="262626"/>
                </a:solidFill>
                <a:latin typeface="Arial"/>
              </a:rPr>
              <a:t>liệu</a:t>
            </a:r>
            <a:r>
              <a:rPr sz="1600" b="0" i="0" dirty="0">
                <a:solidFill>
                  <a:srgbClr val="262626"/>
                </a:solidFill>
                <a:latin typeface="Arial"/>
              </a:rPr>
              <a:t>.</a:t>
            </a:r>
          </a:p>
          <a:p>
            <a:pPr>
              <a:lnSpc>
                <a:spcPct val="104000"/>
              </a:lnSpc>
              <a:spcAft>
                <a:spcPts val="500"/>
              </a:spcAft>
            </a:pPr>
            <a:r>
              <a:rPr sz="1600" b="1" dirty="0">
                <a:solidFill>
                  <a:srgbClr val="C4122F"/>
                </a:solidFill>
                <a:latin typeface="Arial"/>
              </a:rPr>
              <a:t>• </a:t>
            </a:r>
            <a:r>
              <a:rPr sz="1600" b="0" dirty="0" err="1">
                <a:solidFill>
                  <a:srgbClr val="262626"/>
                </a:solidFill>
                <a:latin typeface="Arial"/>
              </a:rPr>
              <a:t>Bổ</a:t>
            </a:r>
            <a:r>
              <a:rPr sz="1600" b="0" dirty="0">
                <a:solidFill>
                  <a:srgbClr val="262626"/>
                </a:solidFill>
                <a:latin typeface="Arial"/>
              </a:rPr>
              <a:t> sung chi </a:t>
            </a:r>
            <a:r>
              <a:rPr sz="1600" b="0" dirty="0" err="1">
                <a:solidFill>
                  <a:srgbClr val="262626"/>
                </a:solidFill>
                <a:latin typeface="Arial"/>
              </a:rPr>
              <a:t>tiết</a:t>
            </a:r>
            <a:r>
              <a:rPr sz="1600" b="0" dirty="0">
                <a:solidFill>
                  <a:srgbClr val="262626"/>
                </a:solidFill>
                <a:latin typeface="Arial"/>
              </a:rPr>
              <a:t> </a:t>
            </a:r>
            <a:r>
              <a:rPr sz="1600" b="0" dirty="0" err="1">
                <a:solidFill>
                  <a:srgbClr val="262626"/>
                </a:solidFill>
                <a:latin typeface="Arial"/>
              </a:rPr>
              <a:t>các</a:t>
            </a:r>
            <a:r>
              <a:rPr sz="1600" b="0" dirty="0">
                <a:solidFill>
                  <a:srgbClr val="262626"/>
                </a:solidFill>
                <a:latin typeface="Arial"/>
              </a:rPr>
              <a:t> </a:t>
            </a:r>
            <a:r>
              <a:rPr sz="1600" b="0" dirty="0" err="1">
                <a:solidFill>
                  <a:srgbClr val="262626"/>
                </a:solidFill>
                <a:latin typeface="Arial"/>
              </a:rPr>
              <a:t>trò</a:t>
            </a:r>
            <a:r>
              <a:rPr sz="1600" b="0" dirty="0">
                <a:solidFill>
                  <a:srgbClr val="262626"/>
                </a:solidFill>
                <a:latin typeface="Arial"/>
              </a:rPr>
              <a:t> </a:t>
            </a:r>
            <a:r>
              <a:rPr sz="1600" b="0" dirty="0" err="1">
                <a:solidFill>
                  <a:srgbClr val="262626"/>
                </a:solidFill>
                <a:latin typeface="Arial"/>
              </a:rPr>
              <a:t>chơi</a:t>
            </a:r>
            <a:r>
              <a:rPr sz="1600" b="0" dirty="0">
                <a:solidFill>
                  <a:srgbClr val="262626"/>
                </a:solidFill>
                <a:latin typeface="Arial"/>
              </a:rPr>
              <a:t> </a:t>
            </a:r>
            <a:r>
              <a:rPr sz="1600" b="0" dirty="0" err="1">
                <a:solidFill>
                  <a:srgbClr val="262626"/>
                </a:solidFill>
                <a:latin typeface="Arial"/>
              </a:rPr>
              <a:t>trong</a:t>
            </a:r>
            <a:r>
              <a:rPr sz="1600" b="0" dirty="0">
                <a:solidFill>
                  <a:srgbClr val="262626"/>
                </a:solidFill>
                <a:latin typeface="Arial"/>
              </a:rPr>
              <a:t> </a:t>
            </a:r>
            <a:r>
              <a:rPr sz="1600" b="0" dirty="0" err="1">
                <a:solidFill>
                  <a:srgbClr val="262626"/>
                </a:solidFill>
                <a:latin typeface="Arial"/>
              </a:rPr>
              <a:t>từng</a:t>
            </a:r>
            <a:r>
              <a:rPr sz="1600" b="0" dirty="0">
                <a:solidFill>
                  <a:srgbClr val="262626"/>
                </a:solidFill>
                <a:latin typeface="Arial"/>
              </a:rPr>
              <a:t> </a:t>
            </a:r>
            <a:r>
              <a:rPr sz="1600" b="0" dirty="0" err="1">
                <a:solidFill>
                  <a:srgbClr val="262626"/>
                </a:solidFill>
                <a:latin typeface="Arial"/>
              </a:rPr>
              <a:t>địa</a:t>
            </a:r>
            <a:r>
              <a:rPr sz="1600" b="0" dirty="0">
                <a:solidFill>
                  <a:srgbClr val="262626"/>
                </a:solidFill>
                <a:latin typeface="Arial"/>
              </a:rPr>
              <a:t> </a:t>
            </a:r>
            <a:r>
              <a:rPr sz="1600" b="0" dirty="0" err="1">
                <a:solidFill>
                  <a:srgbClr val="262626"/>
                </a:solidFill>
                <a:latin typeface="Arial"/>
              </a:rPr>
              <a:t>điểm</a:t>
            </a:r>
            <a:r>
              <a:rPr sz="1600" b="0" dirty="0">
                <a:solidFill>
                  <a:srgbClr val="262626"/>
                </a:solidFill>
                <a:latin typeface="Arial"/>
              </a:rPr>
              <a:t>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54480" y="2468880"/>
            <a:ext cx="9052560" cy="21031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  <a:latin typeface="Arial"/>
              </a:rPr>
              <a:t>CẢM ƠN THẦY CÔ ĐÃ LẮNG NGHE</a:t>
            </a:r>
          </a:p>
          <a:p>
            <a:pPr algn="ctr">
              <a:spcBef>
                <a:spcPts val="1200"/>
              </a:spcBef>
            </a:pPr>
            <a:r>
              <a:rPr sz="2000" b="0" i="0">
                <a:solidFill>
                  <a:srgbClr val="FFFFFF"/>
                </a:solidFill>
                <a:latin typeface="Arial"/>
              </a:rPr>
              <a:t>Trần Hoàng Hiền  –  20225836</a:t>
            </a:r>
          </a:p>
          <a:p>
            <a:pPr algn="ctr">
              <a:spcBef>
                <a:spcPts val="300"/>
              </a:spcBef>
            </a:pPr>
            <a:r>
              <a:rPr sz="1700" b="0" i="1">
                <a:solidFill>
                  <a:srgbClr val="FFFFFF"/>
                </a:solidFill>
                <a:latin typeface="Arial"/>
              </a:rPr>
              <a:t>Rất mong nhận được góp ý của thầy cô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828800" y="2560320"/>
            <a:ext cx="8503920" cy="1828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endParaRPr/>
          </a:p>
          <a:p>
            <a:pPr algn="ctr">
              <a:spcBef>
                <a:spcPts val="800"/>
              </a:spcBef>
            </a:pPr>
            <a:r>
              <a:rPr sz="3400" b="1" i="0">
                <a:solidFill>
                  <a:srgbClr val="FFFFFF"/>
                </a:solidFill>
                <a:latin typeface="Arial"/>
              </a:rPr>
              <a:t>PHỤ LỤC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4343400"/>
            <a:ext cx="850392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700" i="1">
                <a:solidFill>
                  <a:srgbClr val="FFFFFF"/>
                </a:solidFill>
                <a:latin typeface="Arial"/>
              </a:rPr>
              <a:t>Slide dự phòng — chỉ mở khi thầy cô hỏi sâu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201400" y="6309360"/>
            <a:ext cx="6858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 b="1">
                <a:solidFill>
                  <a:srgbClr val="C4122F"/>
                </a:solidFill>
                <a:latin typeface="Arial"/>
              </a:rPr>
              <a:t>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0584"/>
            <a:ext cx="86868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600" b="1" i="0">
                <a:solidFill>
                  <a:srgbClr val="FFFFFF"/>
                </a:solidFill>
                <a:latin typeface="Arial"/>
              </a:rPr>
              <a:t>Phụ lục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70432"/>
            <a:ext cx="110642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3000" b="1" i="0">
                <a:solidFill>
                  <a:srgbClr val="C4122F"/>
                </a:solidFill>
                <a:latin typeface="Arial"/>
              </a:rPr>
              <a:t>Cơ chế chống gian lận thanh toán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103120"/>
            <a:ext cx="5349240" cy="2057400"/>
          </a:xfrm>
          <a:prstGeom prst="roundRect">
            <a:avLst/>
          </a:prstGeom>
          <a:solidFill>
            <a:srgbClr val="F1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18872" rIns="128016" bIns="91440" rtlCol="0" anchor="t"/>
          <a:lstStyle/>
          <a:p>
            <a:pPr algn="l">
              <a:spcAft>
                <a:spcPts val="700"/>
              </a:spcAft>
            </a:pPr>
            <a:r>
              <a:rPr sz="1800" b="1" i="0">
                <a:solidFill>
                  <a:srgbClr val="8C0B21"/>
                </a:solidFill>
                <a:latin typeface="Arial"/>
              </a:rPr>
              <a:t>Chống webhook giả</a:t>
            </a:r>
          </a:p>
          <a:p>
            <a:pPr>
              <a:lnSpc>
                <a:spcPct val="104000"/>
              </a:lnSpc>
              <a:spcAft>
                <a:spcPts val="500"/>
              </a:spcAft>
            </a:pPr>
            <a:r>
              <a:rPr sz="1500" b="1" i="0">
                <a:solidFill>
                  <a:srgbClr val="C4122F"/>
                </a:solidFill>
                <a:latin typeface="Arial"/>
              </a:rPr>
              <a:t>• </a:t>
            </a:r>
            <a:r>
              <a:rPr sz="1500" b="0" i="0">
                <a:solidFill>
                  <a:srgbClr val="262626"/>
                </a:solidFill>
                <a:latin typeface="Arial"/>
              </a:rPr>
              <a:t>Ký &amp; verify HMAC-SHA256 toàn bộ payload.</a:t>
            </a:r>
          </a:p>
          <a:p>
            <a:pPr>
              <a:lnSpc>
                <a:spcPct val="104000"/>
              </a:lnSpc>
              <a:spcAft>
                <a:spcPts val="500"/>
              </a:spcAft>
            </a:pPr>
            <a:r>
              <a:rPr sz="1500" b="1" i="0">
                <a:solidFill>
                  <a:srgbClr val="C4122F"/>
                </a:solidFill>
                <a:latin typeface="Arial"/>
              </a:rPr>
              <a:t>• </a:t>
            </a:r>
            <a:r>
              <a:rPr sz="1500" b="0" i="0">
                <a:solidFill>
                  <a:srgbClr val="262626"/>
                </a:solidFill>
                <a:latin typeface="Arial"/>
              </a:rPr>
              <a:t>So sánh bằng timingSafeEqual → chống timing-attack.</a:t>
            </a:r>
          </a:p>
          <a:p>
            <a:pPr>
              <a:lnSpc>
                <a:spcPct val="104000"/>
              </a:lnSpc>
              <a:spcAft>
                <a:spcPts val="500"/>
              </a:spcAft>
            </a:pPr>
            <a:r>
              <a:rPr sz="1500" b="1" i="0">
                <a:solidFill>
                  <a:srgbClr val="C4122F"/>
                </a:solidFill>
                <a:latin typeface="Arial"/>
              </a:rPr>
              <a:t>• </a:t>
            </a:r>
            <a:r>
              <a:rPr sz="1500" b="0" i="0">
                <a:solidFill>
                  <a:srgbClr val="262626"/>
                </a:solidFill>
                <a:latin typeface="Arial"/>
              </a:rPr>
              <a:t>Sai chữ ký → ghi log, bỏ qua.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2103120"/>
            <a:ext cx="5349240" cy="2057400"/>
          </a:xfrm>
          <a:prstGeom prst="roundRect">
            <a:avLst/>
          </a:prstGeom>
          <a:solidFill>
            <a:srgbClr val="F1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18872" rIns="128016" bIns="91440" rtlCol="0" anchor="t"/>
          <a:lstStyle/>
          <a:p>
            <a:pPr algn="l">
              <a:spcAft>
                <a:spcPts val="700"/>
              </a:spcAft>
            </a:pPr>
            <a:r>
              <a:rPr sz="1800" b="1" i="0">
                <a:solidFill>
                  <a:srgbClr val="8C0B21"/>
                </a:solidFill>
                <a:latin typeface="Arial"/>
              </a:rPr>
              <a:t>Chống trùng (Idempotency)</a:t>
            </a:r>
          </a:p>
          <a:p>
            <a:pPr>
              <a:lnSpc>
                <a:spcPct val="104000"/>
              </a:lnSpc>
              <a:spcAft>
                <a:spcPts val="500"/>
              </a:spcAft>
            </a:pPr>
            <a:r>
              <a:rPr sz="1500" b="1" i="0">
                <a:solidFill>
                  <a:srgbClr val="C4122F"/>
                </a:solidFill>
                <a:latin typeface="Arial"/>
              </a:rPr>
              <a:t>• </a:t>
            </a:r>
            <a:r>
              <a:rPr sz="1500" b="0" i="0">
                <a:solidFill>
                  <a:srgbClr val="262626"/>
                </a:solidFill>
                <a:latin typeface="Arial"/>
              </a:rPr>
              <a:t>Đơn đã "paid" → bỏ qua, không xử lý lần 2.</a:t>
            </a:r>
          </a:p>
          <a:p>
            <a:pPr>
              <a:lnSpc>
                <a:spcPct val="104000"/>
              </a:lnSpc>
              <a:spcAft>
                <a:spcPts val="500"/>
              </a:spcAft>
            </a:pPr>
            <a:r>
              <a:rPr sz="1500" b="1" i="0">
                <a:solidFill>
                  <a:srgbClr val="C4122F"/>
                </a:solidFill>
                <a:latin typeface="Arial"/>
              </a:rPr>
              <a:t>• </a:t>
            </a:r>
            <a:r>
              <a:rPr sz="1500" b="0" i="0">
                <a:solidFill>
                  <a:srgbClr val="262626"/>
                </a:solidFill>
                <a:latin typeface="Arial"/>
              </a:rPr>
              <a:t>Sinh vé bằng upsert theo (booking, lineIndex).</a:t>
            </a:r>
          </a:p>
          <a:p>
            <a:pPr>
              <a:lnSpc>
                <a:spcPct val="104000"/>
              </a:lnSpc>
              <a:spcAft>
                <a:spcPts val="500"/>
              </a:spcAft>
            </a:pPr>
            <a:r>
              <a:rPr sz="1500" b="1" i="0">
                <a:solidFill>
                  <a:srgbClr val="C4122F"/>
                </a:solidFill>
                <a:latin typeface="Arial"/>
              </a:rPr>
              <a:t>• </a:t>
            </a:r>
            <a:r>
              <a:rPr sz="1500" b="0" i="0">
                <a:solidFill>
                  <a:srgbClr val="262626"/>
                </a:solidFill>
                <a:latin typeface="Arial"/>
              </a:rPr>
              <a:t>Webhook gọi 2 lần không tạo vé 2 lần.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4343400"/>
            <a:ext cx="5349240" cy="2057400"/>
          </a:xfrm>
          <a:prstGeom prst="roundRect">
            <a:avLst/>
          </a:prstGeom>
          <a:solidFill>
            <a:srgbClr val="F1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18872" rIns="128016" bIns="91440" rtlCol="0" anchor="t"/>
          <a:lstStyle/>
          <a:p>
            <a:pPr algn="l">
              <a:spcAft>
                <a:spcPts val="700"/>
              </a:spcAft>
            </a:pPr>
            <a:r>
              <a:rPr sz="1800" b="1" i="0">
                <a:solidFill>
                  <a:srgbClr val="8C0B21"/>
                </a:solidFill>
                <a:latin typeface="Arial"/>
              </a:rPr>
              <a:t>Chống sai số tiền</a:t>
            </a:r>
          </a:p>
          <a:p>
            <a:pPr>
              <a:lnSpc>
                <a:spcPct val="104000"/>
              </a:lnSpc>
              <a:spcAft>
                <a:spcPts val="500"/>
              </a:spcAft>
            </a:pPr>
            <a:r>
              <a:rPr sz="1500" b="1" i="0">
                <a:solidFill>
                  <a:srgbClr val="C4122F"/>
                </a:solidFill>
                <a:latin typeface="Arial"/>
              </a:rPr>
              <a:t>• </a:t>
            </a:r>
            <a:r>
              <a:rPr sz="1500" b="0" i="0">
                <a:solidFill>
                  <a:srgbClr val="262626"/>
                </a:solidFill>
                <a:latin typeface="Arial"/>
              </a:rPr>
              <a:t>Số tiền đối chiếu lấy từ DB (booking.totalAmount).</a:t>
            </a:r>
          </a:p>
          <a:p>
            <a:pPr>
              <a:lnSpc>
                <a:spcPct val="104000"/>
              </a:lnSpc>
              <a:spcAft>
                <a:spcPts val="500"/>
              </a:spcAft>
            </a:pPr>
            <a:r>
              <a:rPr sz="1500" b="1" i="0">
                <a:solidFill>
                  <a:srgbClr val="C4122F"/>
                </a:solidFill>
                <a:latin typeface="Arial"/>
              </a:rPr>
              <a:t>• </a:t>
            </a:r>
            <a:r>
              <a:rPr sz="1500" b="0" i="0">
                <a:solidFill>
                  <a:srgbClr val="262626"/>
                </a:solidFill>
                <a:latin typeface="Arial"/>
              </a:rPr>
              <a:t>Không tin số tiền do client gửi lên.</a:t>
            </a:r>
          </a:p>
          <a:p>
            <a:pPr>
              <a:lnSpc>
                <a:spcPct val="104000"/>
              </a:lnSpc>
              <a:spcAft>
                <a:spcPts val="500"/>
              </a:spcAft>
            </a:pPr>
            <a:r>
              <a:rPr sz="1500" b="1" i="0">
                <a:solidFill>
                  <a:srgbClr val="C4122F"/>
                </a:solidFill>
                <a:latin typeface="Arial"/>
              </a:rPr>
              <a:t>• </a:t>
            </a:r>
            <a:r>
              <a:rPr sz="1500" b="0" i="0">
                <a:solidFill>
                  <a:srgbClr val="262626"/>
                </a:solidFill>
                <a:latin typeface="Arial"/>
              </a:rPr>
              <a:t>Lệch tiền → đánh "failed", không phát vé.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4343400"/>
            <a:ext cx="5349240" cy="2057400"/>
          </a:xfrm>
          <a:prstGeom prst="roundRect">
            <a:avLst/>
          </a:prstGeom>
          <a:solidFill>
            <a:srgbClr val="F1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18872" rIns="128016" bIns="91440" rtlCol="0" anchor="t"/>
          <a:lstStyle/>
          <a:p>
            <a:pPr algn="l">
              <a:spcAft>
                <a:spcPts val="700"/>
              </a:spcAft>
            </a:pPr>
            <a:r>
              <a:rPr sz="1800" b="1" i="0">
                <a:solidFill>
                  <a:srgbClr val="8C0B21"/>
                </a:solidFill>
                <a:latin typeface="Arial"/>
              </a:rPr>
              <a:t>Không xác nhận thủ công</a:t>
            </a:r>
          </a:p>
          <a:p>
            <a:pPr>
              <a:lnSpc>
                <a:spcPct val="104000"/>
              </a:lnSpc>
              <a:spcAft>
                <a:spcPts val="500"/>
              </a:spcAft>
            </a:pPr>
            <a:r>
              <a:rPr sz="1500" b="1" i="0">
                <a:solidFill>
                  <a:srgbClr val="C4122F"/>
                </a:solidFill>
                <a:latin typeface="Arial"/>
              </a:rPr>
              <a:t>• </a:t>
            </a:r>
            <a:r>
              <a:rPr sz="1500" b="0" i="0">
                <a:solidFill>
                  <a:srgbClr val="262626"/>
                </a:solidFill>
                <a:latin typeface="Arial"/>
              </a:rPr>
              <a:t>Không có endpoint tự báo "đã thanh toán".</a:t>
            </a:r>
          </a:p>
          <a:p>
            <a:pPr>
              <a:lnSpc>
                <a:spcPct val="104000"/>
              </a:lnSpc>
              <a:spcAft>
                <a:spcPts val="500"/>
              </a:spcAft>
            </a:pPr>
            <a:r>
              <a:rPr sz="1500" b="1" i="0">
                <a:solidFill>
                  <a:srgbClr val="C4122F"/>
                </a:solidFill>
                <a:latin typeface="Arial"/>
              </a:rPr>
              <a:t>• </a:t>
            </a:r>
            <a:r>
              <a:rPr sz="1500" b="0" i="0">
                <a:solidFill>
                  <a:srgbClr val="262626"/>
                </a:solidFill>
                <a:latin typeface="Arial"/>
              </a:rPr>
              <a:t>Trạng thái paid chỉ đến từ webhook đã verify.</a:t>
            </a:r>
          </a:p>
          <a:p>
            <a:pPr>
              <a:lnSpc>
                <a:spcPct val="104000"/>
              </a:lnSpc>
              <a:spcAft>
                <a:spcPts val="500"/>
              </a:spcAft>
            </a:pPr>
            <a:r>
              <a:rPr sz="1500" b="1" i="0">
                <a:solidFill>
                  <a:srgbClr val="C4122F"/>
                </a:solidFill>
                <a:latin typeface="Arial"/>
              </a:rPr>
              <a:t>• </a:t>
            </a:r>
            <a:r>
              <a:rPr sz="1500" b="0" i="0">
                <a:solidFill>
                  <a:srgbClr val="262626"/>
                </a:solidFill>
                <a:latin typeface="Arial"/>
              </a:rPr>
              <a:t>Polling dự phòng: backend tự hỏi lại PayOS.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201400" y="6309360"/>
            <a:ext cx="6858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 b="1">
                <a:solidFill>
                  <a:srgbClr val="C4122F"/>
                </a:solidFill>
                <a:latin typeface="Arial"/>
              </a:rPr>
              <a:t>27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0584"/>
            <a:ext cx="86868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600" b="1" i="0">
                <a:solidFill>
                  <a:srgbClr val="FFFFFF"/>
                </a:solidFill>
                <a:latin typeface="Arial"/>
              </a:rPr>
              <a:t>Phụ lục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70432"/>
            <a:ext cx="110642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3000" b="1" i="0">
                <a:solidFill>
                  <a:srgbClr val="C4122F"/>
                </a:solidFill>
                <a:latin typeface="Arial"/>
              </a:rPr>
              <a:t>Haversine &amp; chấm điểm chatbot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103120"/>
            <a:ext cx="5349240" cy="2926080"/>
          </a:xfrm>
          <a:prstGeom prst="roundRect">
            <a:avLst/>
          </a:prstGeom>
          <a:solidFill>
            <a:srgbClr val="F1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18872" rIns="128016" bIns="91440" rtlCol="0" anchor="t"/>
          <a:lstStyle/>
          <a:p>
            <a:pPr algn="l">
              <a:spcAft>
                <a:spcPts val="700"/>
              </a:spcAft>
            </a:pPr>
            <a:r>
              <a:rPr sz="1800" b="1" i="0">
                <a:solidFill>
                  <a:srgbClr val="8C0B21"/>
                </a:solidFill>
                <a:latin typeface="Arial"/>
              </a:rPr>
              <a:t>Haversine (khoảng cách)</a:t>
            </a:r>
          </a:p>
          <a:p>
            <a:pPr>
              <a:lnSpc>
                <a:spcPct val="104000"/>
              </a:lnSpc>
              <a:spcAft>
                <a:spcPts val="500"/>
              </a:spcAft>
            </a:pPr>
            <a:r>
              <a:rPr sz="1500" b="1" i="0">
                <a:solidFill>
                  <a:srgbClr val="C4122F"/>
                </a:solidFill>
                <a:latin typeface="Arial"/>
              </a:rPr>
              <a:t>• </a:t>
            </a:r>
            <a:r>
              <a:rPr sz="1500" b="0" i="0">
                <a:solidFill>
                  <a:srgbClr val="262626"/>
                </a:solidFill>
                <a:latin typeface="Arial"/>
              </a:rPr>
              <a:t>toRad = độ × π/180</a:t>
            </a:r>
          </a:p>
          <a:p>
            <a:pPr>
              <a:lnSpc>
                <a:spcPct val="104000"/>
              </a:lnSpc>
              <a:spcAft>
                <a:spcPts val="500"/>
              </a:spcAft>
            </a:pPr>
            <a:r>
              <a:rPr sz="1500" b="1" i="0">
                <a:solidFill>
                  <a:srgbClr val="C4122F"/>
                </a:solidFill>
                <a:latin typeface="Arial"/>
              </a:rPr>
              <a:t>• </a:t>
            </a:r>
            <a:r>
              <a:rPr sz="1500" b="0" i="0">
                <a:solidFill>
                  <a:srgbClr val="262626"/>
                </a:solidFill>
                <a:latin typeface="Arial"/>
              </a:rPr>
              <a:t>a = sin²(Δlat/2) + cos(lat₁)·cos(lat₂)·sin²(Δlng/2)</a:t>
            </a:r>
          </a:p>
          <a:p>
            <a:pPr>
              <a:lnSpc>
                <a:spcPct val="104000"/>
              </a:lnSpc>
              <a:spcAft>
                <a:spcPts val="500"/>
              </a:spcAft>
            </a:pPr>
            <a:r>
              <a:rPr sz="1500" b="1" i="0">
                <a:solidFill>
                  <a:srgbClr val="C4122F"/>
                </a:solidFill>
                <a:latin typeface="Arial"/>
              </a:rPr>
              <a:t>• </a:t>
            </a:r>
            <a:r>
              <a:rPr sz="1500" b="0" i="0">
                <a:solidFill>
                  <a:srgbClr val="262626"/>
                </a:solidFill>
                <a:latin typeface="Arial"/>
              </a:rPr>
              <a:t>c = 2·atan2(√a, √(1−a))</a:t>
            </a:r>
          </a:p>
          <a:p>
            <a:pPr>
              <a:lnSpc>
                <a:spcPct val="104000"/>
              </a:lnSpc>
              <a:spcAft>
                <a:spcPts val="500"/>
              </a:spcAft>
            </a:pPr>
            <a:r>
              <a:rPr sz="1500" b="1" i="0">
                <a:solidFill>
                  <a:srgbClr val="C4122F"/>
                </a:solidFill>
                <a:latin typeface="Arial"/>
              </a:rPr>
              <a:t>• </a:t>
            </a:r>
            <a:r>
              <a:rPr sz="1500" b="0" i="0">
                <a:solidFill>
                  <a:srgbClr val="262626"/>
                </a:solidFill>
                <a:latin typeface="Arial"/>
              </a:rPr>
              <a:t>d = R × c    (R = 6 371 000 m)</a:t>
            </a:r>
          </a:p>
          <a:p>
            <a:pPr>
              <a:lnSpc>
                <a:spcPct val="104000"/>
              </a:lnSpc>
              <a:spcAft>
                <a:spcPts val="500"/>
              </a:spcAft>
            </a:pPr>
            <a:r>
              <a:rPr sz="1500" b="1" i="0">
                <a:solidFill>
                  <a:srgbClr val="C4122F"/>
                </a:solidFill>
                <a:latin typeface="Arial"/>
              </a:rPr>
              <a:t>• </a:t>
            </a:r>
            <a:r>
              <a:rPr sz="1500" b="0" i="0">
                <a:solidFill>
                  <a:srgbClr val="262626"/>
                </a:solidFill>
                <a:latin typeface="Arial"/>
              </a:rPr>
              <a:t>Đúng trên mặt cầu, không dùng khoảng cách phẳng.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2103120"/>
            <a:ext cx="5349240" cy="2926080"/>
          </a:xfrm>
          <a:prstGeom prst="roundRect">
            <a:avLst/>
          </a:prstGeom>
          <a:solidFill>
            <a:srgbClr val="E3E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18872" rIns="128016" bIns="91440" rtlCol="0" anchor="t"/>
          <a:lstStyle/>
          <a:p>
            <a:pPr algn="l">
              <a:spcAft>
                <a:spcPts val="700"/>
              </a:spcAft>
            </a:pPr>
            <a:r>
              <a:rPr sz="1800" b="1" i="0">
                <a:solidFill>
                  <a:srgbClr val="8C0B21"/>
                </a:solidFill>
                <a:latin typeface="Arial"/>
              </a:rPr>
              <a:t>Chấm điểm liên quan (scoreDoc)</a:t>
            </a:r>
          </a:p>
          <a:p>
            <a:pPr>
              <a:lnSpc>
                <a:spcPct val="104000"/>
              </a:lnSpc>
              <a:spcAft>
                <a:spcPts val="500"/>
              </a:spcAft>
            </a:pPr>
            <a:r>
              <a:rPr sz="1500" b="1" i="0">
                <a:solidFill>
                  <a:srgbClr val="C4122F"/>
                </a:solidFill>
                <a:latin typeface="Arial"/>
              </a:rPr>
              <a:t>• </a:t>
            </a:r>
            <a:r>
              <a:rPr sz="1500" b="0" i="0">
                <a:solidFill>
                  <a:srgbClr val="262626"/>
                </a:solidFill>
                <a:latin typeface="Arial"/>
              </a:rPr>
              <a:t>Khớp tên địa điểm: +80</a:t>
            </a:r>
          </a:p>
          <a:p>
            <a:pPr>
              <a:lnSpc>
                <a:spcPct val="104000"/>
              </a:lnSpc>
              <a:spcAft>
                <a:spcPts val="500"/>
              </a:spcAft>
            </a:pPr>
            <a:r>
              <a:rPr sz="1500" b="1" i="0">
                <a:solidFill>
                  <a:srgbClr val="C4122F"/>
                </a:solidFill>
                <a:latin typeface="Arial"/>
              </a:rPr>
              <a:t>• </a:t>
            </a:r>
            <a:r>
              <a:rPr sz="1500" b="0" i="0">
                <a:solidFill>
                  <a:srgbClr val="262626"/>
                </a:solidFill>
                <a:latin typeface="Arial"/>
              </a:rPr>
              <a:t>Khớp tag: +30</a:t>
            </a:r>
          </a:p>
          <a:p>
            <a:pPr>
              <a:lnSpc>
                <a:spcPct val="104000"/>
              </a:lnSpc>
              <a:spcAft>
                <a:spcPts val="500"/>
              </a:spcAft>
            </a:pPr>
            <a:r>
              <a:rPr sz="1500" b="1" i="0">
                <a:solidFill>
                  <a:srgbClr val="C4122F"/>
                </a:solidFill>
                <a:latin typeface="Arial"/>
              </a:rPr>
              <a:t>• </a:t>
            </a:r>
            <a:r>
              <a:rPr sz="1500" b="0" i="0">
                <a:solidFill>
                  <a:srgbClr val="262626"/>
                </a:solidFill>
                <a:latin typeface="Arial"/>
              </a:rPr>
              <a:t>Khớp từ khóa: +12 / +10 / +4</a:t>
            </a:r>
          </a:p>
          <a:p>
            <a:pPr>
              <a:lnSpc>
                <a:spcPct val="104000"/>
              </a:lnSpc>
              <a:spcAft>
                <a:spcPts val="500"/>
              </a:spcAft>
            </a:pPr>
            <a:r>
              <a:rPr sz="1500" b="1" i="0">
                <a:solidFill>
                  <a:srgbClr val="C4122F"/>
                </a:solidFill>
                <a:latin typeface="Arial"/>
              </a:rPr>
              <a:t>• </a:t>
            </a:r>
            <a:r>
              <a:rPr sz="1500" b="0" i="0">
                <a:solidFill>
                  <a:srgbClr val="262626"/>
                </a:solidFill>
                <a:latin typeface="Arial"/>
              </a:rPr>
              <a:t>Cộng thêm rating, lượt xem</a:t>
            </a:r>
          </a:p>
          <a:p>
            <a:pPr>
              <a:lnSpc>
                <a:spcPct val="104000"/>
              </a:lnSpc>
              <a:spcAft>
                <a:spcPts val="500"/>
              </a:spcAft>
            </a:pPr>
            <a:r>
              <a:rPr sz="1500" b="1" i="0">
                <a:solidFill>
                  <a:srgbClr val="C4122F"/>
                </a:solidFill>
                <a:latin typeface="Arial"/>
              </a:rPr>
              <a:t>• </a:t>
            </a:r>
            <a:r>
              <a:rPr sz="1500" b="0" i="0">
                <a:solidFill>
                  <a:srgbClr val="262626"/>
                </a:solidFill>
                <a:latin typeface="Arial"/>
              </a:rPr>
              <a:t>Điểm khoảng cách: tối đa +12 (≥12 km → +0)</a:t>
            </a:r>
          </a:p>
          <a:p>
            <a:pPr>
              <a:lnSpc>
                <a:spcPct val="104000"/>
              </a:lnSpc>
              <a:spcAft>
                <a:spcPts val="500"/>
              </a:spcAft>
            </a:pPr>
            <a:r>
              <a:rPr sz="1500" b="1" i="0">
                <a:solidFill>
                  <a:srgbClr val="C4122F"/>
                </a:solidFill>
                <a:latin typeface="Arial"/>
              </a:rPr>
              <a:t>• </a:t>
            </a:r>
            <a:r>
              <a:rPr sz="1500" b="0" i="0">
                <a:solidFill>
                  <a:srgbClr val="262626"/>
                </a:solidFill>
                <a:latin typeface="Arial"/>
              </a:rPr>
              <a:t>Sắp xếp giảm dần → giữ top-K (mặc định 5).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5212080"/>
            <a:ext cx="10927080" cy="1005840"/>
          </a:xfrm>
          <a:prstGeom prst="roundRect">
            <a:avLst/>
          </a:prstGeom>
          <a:solidFill>
            <a:srgbClr val="E6F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18872" rIns="128016" bIns="91440" rtlCol="0" anchor="t"/>
          <a:lstStyle/>
          <a:p>
            <a:pPr algn="l">
              <a:spcAft>
                <a:spcPts val="700"/>
              </a:spcAft>
            </a:pPr>
            <a:r>
              <a:rPr sz="1700" b="1" i="0">
                <a:solidFill>
                  <a:srgbClr val="8C0B21"/>
                </a:solidFill>
                <a:latin typeface="Arial"/>
              </a:rPr>
              <a:t>Chống bịa 2 tầng</a:t>
            </a:r>
          </a:p>
          <a:p>
            <a:pPr>
              <a:lnSpc>
                <a:spcPct val="104000"/>
              </a:lnSpc>
              <a:spcAft>
                <a:spcPts val="500"/>
              </a:spcAft>
            </a:pPr>
            <a:r>
              <a:rPr sz="1500" b="1" i="0">
                <a:solidFill>
                  <a:srgbClr val="C4122F"/>
                </a:solidFill>
                <a:latin typeface="Arial"/>
              </a:rPr>
              <a:t>• </a:t>
            </a:r>
            <a:r>
              <a:rPr sz="1500" b="0" i="0">
                <a:solidFill>
                  <a:srgbClr val="262626"/>
                </a:solidFill>
                <a:latin typeface="Arial"/>
              </a:rPr>
              <a:t>(1) hasRelevantContext chặn trước khi gọi AI   ·   (2) HARD RULES ép Gemini bám CONTEXT.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407</TotalTime>
  <Words>1807</Words>
  <Application>Microsoft Office PowerPoint</Application>
  <PresentationFormat>Widescreen</PresentationFormat>
  <Paragraphs>275</Paragraphs>
  <Slides>27</Slides>
  <Notes>0</Notes>
  <HiddenSlides>3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1" baseType="lpstr">
      <vt:lpstr>Arial</vt:lpstr>
      <vt:lpstr>Calibri</vt:lpstr>
      <vt:lpstr>Lato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Phong TT &amp; QTTH</dc:creator>
  <cp:lastModifiedBy>Tran Hoang Hien 20225836</cp:lastModifiedBy>
  <cp:revision>20</cp:revision>
  <dcterms:created xsi:type="dcterms:W3CDTF">2021-05-28T04:32:29Z</dcterms:created>
  <dcterms:modified xsi:type="dcterms:W3CDTF">2026-07-13T12:45:27Z</dcterms:modified>
</cp:coreProperties>
</file>